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5"/>
  </p:notesMasterIdLst>
  <p:handoutMasterIdLst>
    <p:handoutMasterId r:id="rId26"/>
  </p:handoutMasterIdLst>
  <p:sldIdLst>
    <p:sldId id="312" r:id="rId5"/>
    <p:sldId id="304" r:id="rId6"/>
    <p:sldId id="307" r:id="rId7"/>
    <p:sldId id="323" r:id="rId8"/>
    <p:sldId id="333" r:id="rId9"/>
    <p:sldId id="337" r:id="rId10"/>
    <p:sldId id="336" r:id="rId11"/>
    <p:sldId id="282" r:id="rId12"/>
    <p:sldId id="324" r:id="rId13"/>
    <p:sldId id="325" r:id="rId14"/>
    <p:sldId id="326" r:id="rId15"/>
    <p:sldId id="327" r:id="rId16"/>
    <p:sldId id="328" r:id="rId17"/>
    <p:sldId id="329" r:id="rId18"/>
    <p:sldId id="334" r:id="rId19"/>
    <p:sldId id="331" r:id="rId20"/>
    <p:sldId id="332" r:id="rId21"/>
    <p:sldId id="335" r:id="rId22"/>
    <p:sldId id="330" r:id="rId23"/>
    <p:sldId id="314" r:id="rId2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47" d="100"/>
          <a:sy n="47" d="100"/>
        </p:scale>
        <p:origin x="1046" y="4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31B5D-485B-3627-F5F9-0879D2F9A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954B5-2A2C-D2C1-EA7E-FD7F17BDA1A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DD6A3C-EE89-73E2-7247-35A1AF2A96A8}"/>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0442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D89A-E76D-B5CC-C0CD-CFA2B2095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6CA77-5F3D-246A-7AB2-803B0387D95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D211DAE-CAF9-45CD-B398-D0977B24520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793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0365F-30D2-9B72-35A0-84C1DC6B77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1220B-44E5-7E3B-3067-10EBACDC8E7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7772EB8-8ACD-C7B6-85F3-B396D0F5D2C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41452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42DC-2485-8A87-F51A-73CF66EC2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BC798-4B78-D994-B66B-6CF6EDE0906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C81F0F3-4813-6C72-294A-4B902E4AE7D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53885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6075-95E9-DE1D-413C-993EA8FDE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34C33-439D-351A-6343-F599549A735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297B7F8-7AFA-CFCB-368A-EBAC8A8682A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46218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61CF9-5411-4A4E-A8E4-352F8644D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3ABCA8-BBA2-4057-6D88-6E4E732AF94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D62FA13-0F17-3F56-649B-A3647340542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135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7143D-EBCD-DCD7-E6A1-648632B0B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2CCA9-ED43-1D4C-05DA-9C271A584F8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31F0675-F10A-983F-FEF9-E5F62F1996A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42357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15B2F-B2E3-3840-A8E1-B35812AD7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52AD1-91A4-A75F-6AAE-3D1F55F8F1E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763FF34-D620-2431-8A05-6F15F0BFC8B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1443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45ECC-90D4-C134-6E8E-7C94516AD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44D82-CC30-3369-9595-05729926C3F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A48320-BC6A-445C-B158-DE532F7BBA0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78793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F667A-68DB-8F20-CE76-93187FFDC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FD500-FDCB-0255-C70B-C42B623CC35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4FF8544-B4B2-A6D7-B170-4D52CDA5EB9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4264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BDA7-FD58-B876-A727-84CC334EA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09133-353B-00EC-91DF-B822B077C77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D468F16-3CDE-6A06-A91E-57E657E9AC7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4724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B2B-5112-F2DF-5BDB-F19C0B4E1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D2C2D-56C8-0591-701B-87CB42008BA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15B8ACD-9388-E24E-F74B-D8C30002180E}"/>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393426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92AF-A876-22A3-2EC9-D2CDCE822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DF8E5-811C-B78B-54E9-E0CDEA48E6F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658EB1E-08BB-253C-5C72-E1E5393D41A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4249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1210-BCC9-976C-3FFD-D29E3E499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322EC-AD35-690F-4131-C5F292B388D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499B283-275D-76A7-8C9D-E47D88F5B3A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278110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2399-408F-847A-C7AF-51B7A8A40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E6C52-9454-C6A8-1550-FBDC73C0466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E0BB28A-7781-1832-E4FD-46D829A680A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62847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tradecblood/5_minute_trader_study_group"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github.com/tradecblood/5_minute_trader_study_group/blob/main/README.md"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Welcome</a:t>
            </a:r>
            <a:br>
              <a:rPr lang="en-US" dirty="0"/>
            </a:br>
            <a:br>
              <a:rPr lang="en-US" dirty="0"/>
            </a:br>
            <a:r>
              <a:rPr lang="en-US" dirty="0"/>
              <a:t>5MTC SLOWER PACED study GROUP</a:t>
            </a:r>
            <a:br>
              <a:rPr lang="en-US" dirty="0"/>
            </a:br>
            <a:br>
              <a:rPr lang="en-US" dirty="0"/>
            </a:br>
            <a:r>
              <a:rPr lang="en-US" dirty="0"/>
              <a:t>how this group works</a:t>
            </a:r>
            <a:br>
              <a:rPr lang="en-US" dirty="0"/>
            </a:b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Introduction</a:t>
            </a:r>
          </a:p>
          <a:p>
            <a:r>
              <a:rPr lang="en-US" dirty="0"/>
              <a:t>Group Rules &amp; Culture</a:t>
            </a:r>
          </a:p>
          <a:p>
            <a:r>
              <a:rPr lang="en-US" dirty="0"/>
              <a:t>Icebreaker</a:t>
            </a:r>
          </a:p>
          <a:p>
            <a:r>
              <a:rPr lang="en-US" dirty="0"/>
              <a:t>Proposed Learning Roadmap (phases 1 to 4)</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395910" y="540513"/>
            <a:ext cx="7748089" cy="2065035"/>
          </a:xfrm>
        </p:spPr>
        <p:txBody>
          <a:bodyPr/>
          <a:lstStyle/>
          <a:p>
            <a:r>
              <a:rPr lang="en-US" dirty="0"/>
              <a:t>Welcome to the 5-minute trader slower paced study group</a:t>
            </a:r>
          </a:p>
        </p:txBody>
      </p:sp>
      <p:sp>
        <p:nvSpPr>
          <p:cNvPr id="5" name="Content Placeholder 2">
            <a:extLst>
              <a:ext uri="{FF2B5EF4-FFF2-40B4-BE49-F238E27FC236}">
                <a16:creationId xmlns:a16="http://schemas.microsoft.com/office/drawing/2014/main" id="{F9E11F4B-5309-CE8B-4CC9-8AFA104ADCB2}"/>
              </a:ext>
            </a:extLst>
          </p:cNvPr>
          <p:cNvSpPr txBox="1">
            <a:spLocks/>
          </p:cNvSpPr>
          <p:nvPr/>
        </p:nvSpPr>
        <p:spPr>
          <a:xfrm>
            <a:off x="1395910" y="2952627"/>
            <a:ext cx="6583680" cy="3207344"/>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500"/>
              </a:spcAft>
            </a:pPr>
            <a:r>
              <a:rPr lang="en-US" dirty="0"/>
              <a:t>Growth-focused learning</a:t>
            </a:r>
          </a:p>
          <a:p>
            <a:pPr>
              <a:spcAft>
                <a:spcPts val="500"/>
              </a:spcAft>
            </a:pPr>
            <a:r>
              <a:rPr lang="en-US" dirty="0"/>
              <a:t>Supportive + challenging</a:t>
            </a:r>
          </a:p>
          <a:p>
            <a:pPr>
              <a:spcAft>
                <a:spcPts val="500"/>
              </a:spcAft>
            </a:pPr>
            <a:r>
              <a:rPr lang="en-US" dirty="0"/>
              <a:t>Clear roadmap ahead</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EC3A-437F-7533-9595-C79990218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ED6D7-B06E-EF9A-ACBB-0B702954E22B}"/>
              </a:ext>
            </a:extLst>
          </p:cNvPr>
          <p:cNvSpPr>
            <a:spLocks noGrp="1"/>
          </p:cNvSpPr>
          <p:nvPr>
            <p:ph type="title"/>
          </p:nvPr>
        </p:nvSpPr>
        <p:spPr>
          <a:xfrm>
            <a:off x="1395910" y="540513"/>
            <a:ext cx="7748089" cy="2065035"/>
          </a:xfrm>
        </p:spPr>
        <p:txBody>
          <a:bodyPr/>
          <a:lstStyle/>
          <a:p>
            <a:r>
              <a:rPr lang="en-US" dirty="0"/>
              <a:t>Group rules &amp; culture</a:t>
            </a:r>
          </a:p>
        </p:txBody>
      </p:sp>
      <p:sp>
        <p:nvSpPr>
          <p:cNvPr id="5" name="Content Placeholder 2">
            <a:extLst>
              <a:ext uri="{FF2B5EF4-FFF2-40B4-BE49-F238E27FC236}">
                <a16:creationId xmlns:a16="http://schemas.microsoft.com/office/drawing/2014/main" id="{343621CE-6503-7A24-14B2-697A9EAAA1B6}"/>
              </a:ext>
            </a:extLst>
          </p:cNvPr>
          <p:cNvSpPr txBox="1">
            <a:spLocks/>
          </p:cNvSpPr>
          <p:nvPr/>
        </p:nvSpPr>
        <p:spPr>
          <a:xfrm>
            <a:off x="1700710" y="2259349"/>
            <a:ext cx="9095380" cy="304127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Aft>
                <a:spcPts val="500"/>
              </a:spcAft>
              <a:buFont typeface="+mj-lt"/>
              <a:buAutoNum type="arabicPeriod"/>
            </a:pPr>
            <a:r>
              <a:rPr lang="en-US" dirty="0"/>
              <a:t>Be Kind and Courteous</a:t>
            </a:r>
          </a:p>
          <a:p>
            <a:pPr marL="514350" indent="-514350">
              <a:spcAft>
                <a:spcPts val="500"/>
              </a:spcAft>
              <a:buFont typeface="+mj-lt"/>
              <a:buAutoNum type="arabicPeriod"/>
            </a:pPr>
            <a:r>
              <a:rPr lang="en-US" dirty="0"/>
              <a:t>Respect Everyone’s Privacy</a:t>
            </a:r>
          </a:p>
          <a:p>
            <a:pPr marL="514350" indent="-514350">
              <a:spcAft>
                <a:spcPts val="500"/>
              </a:spcAft>
              <a:buFont typeface="+mj-lt"/>
              <a:buAutoNum type="arabicPeriod"/>
            </a:pPr>
            <a:r>
              <a:rPr lang="en-US" dirty="0"/>
              <a:t>No external sharing of group content</a:t>
            </a:r>
          </a:p>
          <a:p>
            <a:pPr marL="514350" indent="-514350">
              <a:spcAft>
                <a:spcPts val="500"/>
              </a:spcAft>
              <a:buFont typeface="+mj-lt"/>
              <a:buAutoNum type="arabicPeriod"/>
            </a:pPr>
            <a:r>
              <a:rPr lang="en-US" dirty="0"/>
              <a:t>Growth requires challenge</a:t>
            </a:r>
          </a:p>
          <a:p>
            <a:pPr marL="514350" indent="-514350">
              <a:spcAft>
                <a:spcPts val="500"/>
              </a:spcAft>
              <a:buFont typeface="+mj-lt"/>
              <a:buAutoNum type="arabicPeriod"/>
            </a:pPr>
            <a:r>
              <a:rPr lang="en-US" dirty="0"/>
              <a:t>Support each other’s learning</a:t>
            </a:r>
          </a:p>
          <a:p>
            <a:pPr marL="514350" indent="-514350">
              <a:spcAft>
                <a:spcPts val="500"/>
              </a:spcAft>
              <a:buFont typeface="+mj-lt"/>
              <a:buAutoNum type="arabicPeriod"/>
            </a:pPr>
            <a:r>
              <a:rPr lang="en-US" dirty="0"/>
              <a:t>We’re learning, not providing financial advice</a:t>
            </a:r>
          </a:p>
          <a:p>
            <a:pPr marL="514350" indent="-514350">
              <a:spcAft>
                <a:spcPts val="500"/>
              </a:spcAft>
              <a:buFont typeface="+mj-lt"/>
              <a:buAutoNum type="arabicPeriod"/>
            </a:pPr>
            <a:r>
              <a:rPr lang="en-US" dirty="0"/>
              <a:t>Keep a positive environment</a:t>
            </a:r>
          </a:p>
          <a:p>
            <a:pPr>
              <a:spcAft>
                <a:spcPts val="500"/>
              </a:spcAft>
            </a:pPr>
            <a:endParaRPr lang="en-US" dirty="0"/>
          </a:p>
          <a:p>
            <a:pPr>
              <a:spcAft>
                <a:spcPts val="500"/>
              </a:spcAft>
            </a:pPr>
            <a:endParaRPr lang="en-US" dirty="0"/>
          </a:p>
        </p:txBody>
      </p:sp>
    </p:spTree>
    <p:extLst>
      <p:ext uri="{BB962C8B-B14F-4D97-AF65-F5344CB8AC3E}">
        <p14:creationId xmlns:p14="http://schemas.microsoft.com/office/powerpoint/2010/main" val="1494441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33BC-BF3C-876C-2C5E-B0DDF2863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4806F-66ED-2002-DC61-B0871EB99661}"/>
              </a:ext>
            </a:extLst>
          </p:cNvPr>
          <p:cNvSpPr>
            <a:spLocks noGrp="1"/>
          </p:cNvSpPr>
          <p:nvPr>
            <p:ph type="title"/>
          </p:nvPr>
        </p:nvSpPr>
        <p:spPr>
          <a:xfrm>
            <a:off x="3888634" y="-171074"/>
            <a:ext cx="7043617" cy="1099762"/>
          </a:xfrm>
        </p:spPr>
        <p:txBody>
          <a:bodyPr/>
          <a:lstStyle/>
          <a:p>
            <a:r>
              <a:rPr lang="en-US" dirty="0"/>
              <a:t>Central Resource HUB</a:t>
            </a:r>
          </a:p>
        </p:txBody>
      </p:sp>
      <p:sp>
        <p:nvSpPr>
          <p:cNvPr id="3" name="Slide Number Placeholder 2">
            <a:extLst>
              <a:ext uri="{FF2B5EF4-FFF2-40B4-BE49-F238E27FC236}">
                <a16:creationId xmlns:a16="http://schemas.microsoft.com/office/drawing/2014/main" id="{2532A206-CABD-587E-4351-744AC78D0B8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
        <p:nvSpPr>
          <p:cNvPr id="5" name="Content Placeholder 2">
            <a:extLst>
              <a:ext uri="{FF2B5EF4-FFF2-40B4-BE49-F238E27FC236}">
                <a16:creationId xmlns:a16="http://schemas.microsoft.com/office/drawing/2014/main" id="{40E01C8D-758D-7A0E-1C4B-B4F575275A49}"/>
              </a:ext>
            </a:extLst>
          </p:cNvPr>
          <p:cNvSpPr txBox="1">
            <a:spLocks/>
          </p:cNvSpPr>
          <p:nvPr/>
        </p:nvSpPr>
        <p:spPr>
          <a:xfrm>
            <a:off x="3888634" y="1124284"/>
            <a:ext cx="8077224" cy="4195425"/>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700"/>
              </a:spcAft>
            </a:pPr>
            <a:r>
              <a:rPr lang="en-US" sz="2400" b="1" dirty="0"/>
              <a:t>All group resources and document will be stored in one central location here: </a:t>
            </a:r>
            <a:r>
              <a:rPr lang="en-GB" sz="2400" dirty="0">
                <a:solidFill>
                  <a:srgbClr val="C00000"/>
                </a:solidFill>
                <a:hlinkClick r:id="rId3">
                  <a:extLst>
                    <a:ext uri="{A12FA001-AC4F-418D-AE19-62706E023703}">
                      <ahyp:hlinkClr xmlns:ahyp="http://schemas.microsoft.com/office/drawing/2018/hyperlinkcolor" val="tx"/>
                    </a:ext>
                  </a:extLst>
                </a:hlinkClick>
              </a:rPr>
              <a:t>https://github.com/tradecblood/5_minute_trader_study_group</a:t>
            </a:r>
            <a:endParaRPr lang="en-US" sz="2400" dirty="0">
              <a:solidFill>
                <a:srgbClr val="C00000"/>
              </a:solidFill>
            </a:endParaRPr>
          </a:p>
          <a:p>
            <a:pPr marL="338328" lvl="1" indent="0">
              <a:spcAft>
                <a:spcPts val="700"/>
              </a:spcAft>
              <a:buNone/>
            </a:pPr>
            <a:r>
              <a:rPr lang="en-US" dirty="0"/>
              <a:t>This is a GitHub repository, which serves as a web‑based central location where files can be stored and accessed.</a:t>
            </a:r>
          </a:p>
          <a:p>
            <a:pPr marL="338328" lvl="1" indent="0">
              <a:spcAft>
                <a:spcPts val="700"/>
              </a:spcAft>
              <a:buNone/>
            </a:pPr>
            <a:r>
              <a:rPr lang="en-US" dirty="0"/>
              <a:t>You can create your own GitHub account to store your own notes too — totally optional and not required..</a:t>
            </a:r>
          </a:p>
          <a:p>
            <a:pPr>
              <a:spcAft>
                <a:spcPts val="700"/>
              </a:spcAft>
            </a:pPr>
            <a:r>
              <a:rPr lang="en-US" sz="2400" dirty="0"/>
              <a:t>The complete </a:t>
            </a:r>
            <a:r>
              <a:rPr lang="en-US" sz="2400" b="1" dirty="0"/>
              <a:t>Community Learning Roadmap</a:t>
            </a:r>
            <a:r>
              <a:rPr lang="en-US" sz="2400" dirty="0"/>
              <a:t>, outlining our entire learning plan, is also stored in the same repository. It is a more detailed version of these slides. </a:t>
            </a:r>
            <a:r>
              <a:rPr lang="en-GB" sz="2400" dirty="0">
                <a:solidFill>
                  <a:srgbClr val="C00000"/>
                </a:solidFill>
                <a:hlinkClick r:id="rId4">
                  <a:extLst>
                    <a:ext uri="{A12FA001-AC4F-418D-AE19-62706E023703}">
                      <ahyp:hlinkClr xmlns:ahyp="http://schemas.microsoft.com/office/drawing/2018/hyperlinkcolor" val="tx"/>
                    </a:ext>
                  </a:extLst>
                </a:hlinkClick>
              </a:rPr>
              <a:t>https://github.com/tradecblood/5_minute_trader_study_group/blob/main/README.md</a:t>
            </a:r>
            <a:endParaRPr lang="en-US" sz="2400" dirty="0">
              <a:solidFill>
                <a:srgbClr val="C00000"/>
              </a:solidFill>
            </a:endParaRPr>
          </a:p>
        </p:txBody>
      </p:sp>
    </p:spTree>
    <p:extLst>
      <p:ext uri="{BB962C8B-B14F-4D97-AF65-F5344CB8AC3E}">
        <p14:creationId xmlns:p14="http://schemas.microsoft.com/office/powerpoint/2010/main" val="466773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7878B-D961-D9A6-135A-90BB7EF84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91D29-0E70-001E-C402-E1F301217430}"/>
              </a:ext>
            </a:extLst>
          </p:cNvPr>
          <p:cNvSpPr>
            <a:spLocks noGrp="1"/>
          </p:cNvSpPr>
          <p:nvPr>
            <p:ph type="title"/>
          </p:nvPr>
        </p:nvSpPr>
        <p:spPr>
          <a:xfrm>
            <a:off x="3888634" y="-171074"/>
            <a:ext cx="8185379" cy="1099762"/>
          </a:xfrm>
        </p:spPr>
        <p:txBody>
          <a:bodyPr/>
          <a:lstStyle/>
          <a:p>
            <a:r>
              <a:rPr lang="en-US" dirty="0"/>
              <a:t>AI Agent – ‘Ask The Notes’</a:t>
            </a:r>
          </a:p>
        </p:txBody>
      </p:sp>
      <p:sp>
        <p:nvSpPr>
          <p:cNvPr id="3" name="Slide Number Placeholder 2">
            <a:extLst>
              <a:ext uri="{FF2B5EF4-FFF2-40B4-BE49-F238E27FC236}">
                <a16:creationId xmlns:a16="http://schemas.microsoft.com/office/drawing/2014/main" id="{EEDF698B-282B-0507-7DF4-C232AFEAF6E1}"/>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1026E7E7-1A14-4868-AD46-61123BAFE288}"/>
              </a:ext>
            </a:extLst>
          </p:cNvPr>
          <p:cNvSpPr txBox="1">
            <a:spLocks/>
          </p:cNvSpPr>
          <p:nvPr/>
        </p:nvSpPr>
        <p:spPr>
          <a:xfrm>
            <a:off x="3888634" y="1393163"/>
            <a:ext cx="7959237" cy="4981548"/>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700"/>
              </a:spcAft>
            </a:pPr>
            <a:r>
              <a:rPr lang="en-US" sz="2400" dirty="0"/>
              <a:t>We have a brand new AI Agent called **‘Ask the Notes’** that members can use to query our admin’s study notes.</a:t>
            </a:r>
            <a:br>
              <a:rPr lang="en-US" sz="2400" dirty="0"/>
            </a:br>
            <a:endParaRPr lang="en-US" sz="2400" dirty="0"/>
          </a:p>
          <a:p>
            <a:pPr>
              <a:spcAft>
                <a:spcPts val="700"/>
              </a:spcAft>
            </a:pPr>
            <a:r>
              <a:rPr lang="en-US" sz="2400" dirty="0"/>
              <a:t>It is trained on the study notes *plus* general AI knowledge on options trading, giving it a broader base of information to provide additional context.</a:t>
            </a:r>
            <a:br>
              <a:rPr lang="en-US" sz="2400" dirty="0"/>
            </a:br>
            <a:endParaRPr lang="en-US" sz="2000" dirty="0"/>
          </a:p>
          <a:p>
            <a:pPr>
              <a:spcAft>
                <a:spcPts val="700"/>
              </a:spcAft>
            </a:pPr>
            <a:r>
              <a:rPr lang="en-US" sz="2400" dirty="0"/>
              <a:t>Currently, the AI agent has a **daily request limit** that resets each evening.  This is because it uses the *free* version of Claude.</a:t>
            </a:r>
          </a:p>
          <a:p>
            <a:pPr>
              <a:spcAft>
                <a:spcPts val="700"/>
              </a:spcAft>
            </a:pPr>
            <a:r>
              <a:rPr lang="en-US" sz="2400" dirty="0"/>
              <a:t>Please ensure your usage is considerate of other group members.</a:t>
            </a:r>
          </a:p>
        </p:txBody>
      </p:sp>
    </p:spTree>
    <p:extLst>
      <p:ext uri="{BB962C8B-B14F-4D97-AF65-F5344CB8AC3E}">
        <p14:creationId xmlns:p14="http://schemas.microsoft.com/office/powerpoint/2010/main" val="112741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8AEDC-8336-ADBB-8B60-2D69AC63E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3B138-178F-5F76-3570-01A171D99BF9}"/>
              </a:ext>
            </a:extLst>
          </p:cNvPr>
          <p:cNvSpPr>
            <a:spLocks noGrp="1"/>
          </p:cNvSpPr>
          <p:nvPr>
            <p:ph type="title"/>
          </p:nvPr>
        </p:nvSpPr>
        <p:spPr>
          <a:xfrm>
            <a:off x="3715831" y="3153293"/>
            <a:ext cx="7965461" cy="994164"/>
          </a:xfrm>
        </p:spPr>
        <p:txBody>
          <a:bodyPr/>
          <a:lstStyle/>
          <a:p>
            <a:pPr algn="ctr"/>
            <a:r>
              <a:rPr lang="en-US" dirty="0"/>
              <a:t>THE FOLLOWING SLIDES contain OUR COMMUNITY LEARNING ROADMAP</a:t>
            </a:r>
            <a:br>
              <a:rPr lang="en-US" dirty="0"/>
            </a:br>
            <a:br>
              <a:rPr lang="en-US" dirty="0"/>
            </a:br>
            <a:endParaRPr lang="en-US" dirty="0"/>
          </a:p>
        </p:txBody>
      </p:sp>
      <p:sp>
        <p:nvSpPr>
          <p:cNvPr id="23" name="Slide Number Placeholder 22">
            <a:extLst>
              <a:ext uri="{FF2B5EF4-FFF2-40B4-BE49-F238E27FC236}">
                <a16:creationId xmlns:a16="http://schemas.microsoft.com/office/drawing/2014/main" id="{C1A20068-9E33-4541-5722-1407A90C94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8" name="Content Placeholder 2">
            <a:extLst>
              <a:ext uri="{FF2B5EF4-FFF2-40B4-BE49-F238E27FC236}">
                <a16:creationId xmlns:a16="http://schemas.microsoft.com/office/drawing/2014/main" id="{B074073E-B134-B86B-5FC1-CE27C271BF5D}"/>
              </a:ext>
            </a:extLst>
          </p:cNvPr>
          <p:cNvSpPr>
            <a:spLocks noGrp="1"/>
          </p:cNvSpPr>
          <p:nvPr>
            <p:ph sz="half" idx="2"/>
          </p:nvPr>
        </p:nvSpPr>
        <p:spPr>
          <a:xfrm>
            <a:off x="4120598" y="3650375"/>
            <a:ext cx="7155925" cy="2534312"/>
          </a:xfrm>
        </p:spPr>
        <p:txBody>
          <a:bodyPr>
            <a:noAutofit/>
          </a:bodyPr>
          <a:lstStyle/>
          <a:p>
            <a:pPr marL="0" indent="0" algn="ctr">
              <a:buNone/>
            </a:pPr>
            <a:r>
              <a:rPr lang="en-GB" sz="3200" dirty="0"/>
              <a:t>This contains an overview of our entire learning plan. For the full detailed plan see the last link in the previous slide. </a:t>
            </a:r>
          </a:p>
          <a:p>
            <a:pPr marL="0" indent="0" algn="ctr">
              <a:buNone/>
            </a:pPr>
            <a:br>
              <a:rPr lang="en-GB" sz="3200" dirty="0"/>
            </a:br>
            <a:endParaRPr lang="en-GB" sz="3200" dirty="0"/>
          </a:p>
        </p:txBody>
      </p:sp>
    </p:spTree>
    <p:extLst>
      <p:ext uri="{BB962C8B-B14F-4D97-AF65-F5344CB8AC3E}">
        <p14:creationId xmlns:p14="http://schemas.microsoft.com/office/powerpoint/2010/main" val="1914556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666845" y="195861"/>
            <a:ext cx="7965461" cy="994164"/>
          </a:xfrm>
        </p:spPr>
        <p:txBody>
          <a:bodyPr/>
          <a:lstStyle/>
          <a:p>
            <a:r>
              <a:rPr lang="en-US" dirty="0"/>
              <a:t>PHASE 1: FOUNDATION REVIEW (now → 26 July)</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67789" y="1415009"/>
            <a:ext cx="8873064" cy="3497698"/>
          </a:xfrm>
        </p:spPr>
        <p:txBody>
          <a:bodyPr>
            <a:noAutofit/>
          </a:bodyPr>
          <a:lstStyle/>
          <a:p>
            <a:pPr marL="0" indent="0">
              <a:buNone/>
            </a:pPr>
            <a:r>
              <a:rPr lang="en-GB" sz="2400" i="1" dirty="0"/>
              <a:t>Making the most of the 5‑Minute Trader Challenge videos while they’re still available</a:t>
            </a:r>
          </a:p>
          <a:p>
            <a:pPr marL="0" indent="0">
              <a:buNone/>
            </a:pPr>
            <a:r>
              <a:rPr lang="en-GB" sz="2400" dirty="0"/>
              <a:t>Over the next week, we’ll all take time to rewatch the 5‑Minute Trader Challenge videos. This is a great chance to refresh the core concepts and make sure we’re all starting from the same baseline.</a:t>
            </a:r>
          </a:p>
          <a:p>
            <a:pPr marL="0" indent="0">
              <a:buNone/>
            </a:pPr>
            <a:endParaRPr lang="en-GB" sz="2400" b="1" dirty="0"/>
          </a:p>
          <a:p>
            <a:pPr marL="0" indent="0">
              <a:buNone/>
            </a:pPr>
            <a:r>
              <a:rPr lang="en-GB" sz="2400" b="1" dirty="0"/>
              <a:t>What we’ll do during this phase:</a:t>
            </a:r>
          </a:p>
          <a:p>
            <a:r>
              <a:rPr lang="en-GB" sz="2400" dirty="0"/>
              <a:t>Rewatch the videos at your own pace</a:t>
            </a:r>
          </a:p>
          <a:p>
            <a:r>
              <a:rPr lang="en-GB" sz="2400" dirty="0"/>
              <a:t>Share insights, screenshots, and “aha moments” in the group</a:t>
            </a:r>
          </a:p>
          <a:p>
            <a:r>
              <a:rPr lang="en-GB" sz="2400" dirty="0"/>
              <a:t>Ask questions and help each other understand tricky parts</a:t>
            </a:r>
          </a:p>
          <a:p>
            <a:pPr marL="0" indent="0">
              <a:buNone/>
            </a:pPr>
            <a:r>
              <a:rPr lang="en-GB" sz="2400" dirty="0"/>
              <a:t>This keeps the group active and learning together while everyone gets comfortable with the material.</a:t>
            </a:r>
          </a:p>
          <a:p>
            <a:pPr marL="0" indent="0">
              <a:buNone/>
            </a:pPr>
            <a:br>
              <a:rPr lang="en-GB" sz="2400" dirty="0"/>
            </a:br>
            <a:endParaRPr lang="en-GB" sz="2400"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02627-E5E8-2F64-33B3-9E75393D2F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5EDB-17D1-803E-4369-F45BA5E7466B}"/>
              </a:ext>
            </a:extLst>
          </p:cNvPr>
          <p:cNvSpPr>
            <a:spLocks noGrp="1"/>
          </p:cNvSpPr>
          <p:nvPr>
            <p:ph type="title"/>
          </p:nvPr>
        </p:nvSpPr>
        <p:spPr>
          <a:xfrm>
            <a:off x="3460566" y="195861"/>
            <a:ext cx="7965461" cy="994164"/>
          </a:xfrm>
        </p:spPr>
        <p:txBody>
          <a:bodyPr/>
          <a:lstStyle/>
          <a:p>
            <a:r>
              <a:rPr lang="en-US" dirty="0"/>
              <a:t>PHASE 2: weekly workshops (after 26 July)</a:t>
            </a:r>
          </a:p>
        </p:txBody>
      </p:sp>
      <p:sp>
        <p:nvSpPr>
          <p:cNvPr id="3" name="Content Placeholder 2">
            <a:extLst>
              <a:ext uri="{FF2B5EF4-FFF2-40B4-BE49-F238E27FC236}">
                <a16:creationId xmlns:a16="http://schemas.microsoft.com/office/drawing/2014/main" id="{4CA00E6E-F162-09EA-53CF-98515B767714}"/>
              </a:ext>
            </a:extLst>
          </p:cNvPr>
          <p:cNvSpPr>
            <a:spLocks noGrp="1"/>
          </p:cNvSpPr>
          <p:nvPr>
            <p:ph sz="half" idx="2"/>
          </p:nvPr>
        </p:nvSpPr>
        <p:spPr>
          <a:xfrm>
            <a:off x="3144253" y="1451363"/>
            <a:ext cx="8907415" cy="3497698"/>
          </a:xfrm>
        </p:spPr>
        <p:txBody>
          <a:bodyPr>
            <a:noAutofit/>
          </a:bodyPr>
          <a:lstStyle/>
          <a:p>
            <a:pPr marL="0" indent="0">
              <a:buNone/>
            </a:pPr>
            <a:r>
              <a:rPr lang="en-GB" sz="2400" i="1" dirty="0"/>
              <a:t>We begin our guided learning journey together — step by step</a:t>
            </a:r>
          </a:p>
          <a:p>
            <a:pPr marL="0" indent="0">
              <a:buNone/>
            </a:pPr>
            <a:endParaRPr lang="en-GB" sz="2400" dirty="0"/>
          </a:p>
          <a:p>
            <a:r>
              <a:rPr lang="en-GB" sz="2400" dirty="0"/>
              <a:t>Each week focuses on one core topic from our roadmap</a:t>
            </a:r>
          </a:p>
          <a:p>
            <a:r>
              <a:rPr lang="en-GB" sz="2400" dirty="0"/>
              <a:t>We learn it together on a live call</a:t>
            </a:r>
          </a:p>
          <a:p>
            <a:r>
              <a:rPr lang="en-GB" sz="2400" dirty="0"/>
              <a:t>We practise the skills during the session</a:t>
            </a:r>
          </a:p>
          <a:p>
            <a:r>
              <a:rPr lang="en-GB" sz="2400" dirty="0"/>
              <a:t>Everyone gets hands‑on support</a:t>
            </a:r>
          </a:p>
          <a:p>
            <a:r>
              <a:rPr lang="en-GB" sz="2400" dirty="0"/>
              <a:t>We </a:t>
            </a:r>
            <a:r>
              <a:rPr lang="en-GB" sz="2400" b="1" dirty="0"/>
              <a:t>do not move on to the next week</a:t>
            </a:r>
            <a:r>
              <a:rPr lang="en-GB" sz="2400" dirty="0"/>
              <a:t> until the whole group is comfortable with the material</a:t>
            </a:r>
          </a:p>
          <a:p>
            <a:r>
              <a:rPr lang="en-GB" sz="2400" dirty="0"/>
              <a:t>This ensures nobody gets left behind and everyone builds confidence at the same pace</a:t>
            </a:r>
          </a:p>
          <a:p>
            <a:r>
              <a:rPr lang="en-GB" sz="2400" b="1" dirty="0"/>
              <a:t>Your commitment here matters</a:t>
            </a:r>
          </a:p>
        </p:txBody>
      </p:sp>
      <p:sp>
        <p:nvSpPr>
          <p:cNvPr id="23" name="Slide Number Placeholder 22">
            <a:extLst>
              <a:ext uri="{FF2B5EF4-FFF2-40B4-BE49-F238E27FC236}">
                <a16:creationId xmlns:a16="http://schemas.microsoft.com/office/drawing/2014/main" id="{F4646C20-3B19-F0F7-7DE3-142381D2D365}"/>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2293870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04EF-88D2-5DCE-223F-B71338352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3CAAC-DC3F-8B82-075A-B45985220252}"/>
              </a:ext>
            </a:extLst>
          </p:cNvPr>
          <p:cNvSpPr>
            <a:spLocks noGrp="1"/>
          </p:cNvSpPr>
          <p:nvPr>
            <p:ph type="title"/>
          </p:nvPr>
        </p:nvSpPr>
        <p:spPr>
          <a:xfrm>
            <a:off x="3460565" y="431606"/>
            <a:ext cx="7965461" cy="994164"/>
          </a:xfrm>
        </p:spPr>
        <p:txBody>
          <a:bodyPr/>
          <a:lstStyle/>
          <a:p>
            <a:r>
              <a:rPr lang="en-US" dirty="0"/>
              <a:t>PHASE 2: </a:t>
            </a:r>
            <a:br>
              <a:rPr lang="en-US" dirty="0"/>
            </a:br>
            <a:r>
              <a:rPr lang="en-US" dirty="0"/>
              <a:t>week 1: </a:t>
            </a:r>
            <a:r>
              <a:rPr lang="en-US" dirty="0" err="1"/>
              <a:t>PlatfORM</a:t>
            </a:r>
            <a:r>
              <a:rPr lang="en-US" dirty="0"/>
              <a:t> SETUP</a:t>
            </a:r>
          </a:p>
        </p:txBody>
      </p:sp>
      <p:sp>
        <p:nvSpPr>
          <p:cNvPr id="3" name="Content Placeholder 2">
            <a:extLst>
              <a:ext uri="{FF2B5EF4-FFF2-40B4-BE49-F238E27FC236}">
                <a16:creationId xmlns:a16="http://schemas.microsoft.com/office/drawing/2014/main" id="{395E7EED-9F80-82B5-04F0-B674DD57EC45}"/>
              </a:ext>
            </a:extLst>
          </p:cNvPr>
          <p:cNvSpPr>
            <a:spLocks noGrp="1"/>
          </p:cNvSpPr>
          <p:nvPr>
            <p:ph sz="half" idx="2"/>
          </p:nvPr>
        </p:nvSpPr>
        <p:spPr>
          <a:xfrm>
            <a:off x="3069798" y="2014977"/>
            <a:ext cx="8746993" cy="3497698"/>
          </a:xfrm>
        </p:spPr>
        <p:txBody>
          <a:bodyPr>
            <a:noAutofit/>
          </a:bodyPr>
          <a:lstStyle/>
          <a:p>
            <a:pPr marL="0" indent="0">
              <a:buNone/>
            </a:pPr>
            <a:r>
              <a:rPr lang="en-GB" sz="2400" i="1" dirty="0"/>
              <a:t>Getting everyone fully set up and confident using their tools</a:t>
            </a:r>
            <a:endParaRPr lang="en-GB" sz="2400" dirty="0"/>
          </a:p>
          <a:p>
            <a:pPr marL="0" indent="0">
              <a:buNone/>
            </a:pPr>
            <a:r>
              <a:rPr lang="en-GB" sz="2400" dirty="0"/>
              <a:t>Before we dive into charting and strategy, we’ll make sure everyone is properly set up on their trading platforms. This ensures that when we start applying the strategy, everyone knows exactly how to execute trades safely and confidently.</a:t>
            </a:r>
            <a:endParaRPr lang="en-US" sz="2400" dirty="0"/>
          </a:p>
          <a:p>
            <a:r>
              <a:rPr lang="en-US" sz="2400" dirty="0"/>
              <a:t>Charles Schwab account setup</a:t>
            </a:r>
          </a:p>
          <a:p>
            <a:r>
              <a:rPr lang="en-US" sz="2400" dirty="0" err="1"/>
              <a:t>ThinkorSwim</a:t>
            </a:r>
            <a:r>
              <a:rPr lang="en-US" sz="2400" dirty="0"/>
              <a:t> setup</a:t>
            </a:r>
          </a:p>
          <a:p>
            <a:r>
              <a:rPr lang="en-US" sz="2400" dirty="0" err="1"/>
              <a:t>TradingView</a:t>
            </a:r>
            <a:r>
              <a:rPr lang="en-US" sz="2400" dirty="0"/>
              <a:t> setup</a:t>
            </a:r>
          </a:p>
          <a:p>
            <a:r>
              <a:rPr lang="en-US" sz="2400" dirty="0"/>
              <a:t>Risk management essentials</a:t>
            </a:r>
          </a:p>
        </p:txBody>
      </p:sp>
      <p:sp>
        <p:nvSpPr>
          <p:cNvPr id="23" name="Slide Number Placeholder 22">
            <a:extLst>
              <a:ext uri="{FF2B5EF4-FFF2-40B4-BE49-F238E27FC236}">
                <a16:creationId xmlns:a16="http://schemas.microsoft.com/office/drawing/2014/main" id="{16470832-A317-90B2-6E3F-FE9C12603D4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553939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2C79-FF88-51F2-6750-ABF909F36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80436-75E4-9335-AFC2-081E0EB400F0}"/>
              </a:ext>
            </a:extLst>
          </p:cNvPr>
          <p:cNvSpPr>
            <a:spLocks noGrp="1"/>
          </p:cNvSpPr>
          <p:nvPr>
            <p:ph type="title"/>
          </p:nvPr>
        </p:nvSpPr>
        <p:spPr>
          <a:xfrm>
            <a:off x="3091596" y="720390"/>
            <a:ext cx="8731435" cy="994164"/>
          </a:xfrm>
        </p:spPr>
        <p:txBody>
          <a:bodyPr/>
          <a:lstStyle/>
          <a:p>
            <a:r>
              <a:rPr lang="en-US" dirty="0"/>
              <a:t>PHASE 2: </a:t>
            </a:r>
            <a:br>
              <a:rPr lang="en-US" dirty="0"/>
            </a:br>
            <a:r>
              <a:rPr lang="en-US" dirty="0"/>
              <a:t>week 2: core fundamentals</a:t>
            </a:r>
          </a:p>
        </p:txBody>
      </p:sp>
      <p:sp>
        <p:nvSpPr>
          <p:cNvPr id="3" name="Content Placeholder 2">
            <a:extLst>
              <a:ext uri="{FF2B5EF4-FFF2-40B4-BE49-F238E27FC236}">
                <a16:creationId xmlns:a16="http://schemas.microsoft.com/office/drawing/2014/main" id="{CD36555B-B122-61DF-D45C-B065BC50B810}"/>
              </a:ext>
            </a:extLst>
          </p:cNvPr>
          <p:cNvSpPr>
            <a:spLocks noGrp="1"/>
          </p:cNvSpPr>
          <p:nvPr>
            <p:ph sz="half" idx="2"/>
          </p:nvPr>
        </p:nvSpPr>
        <p:spPr>
          <a:xfrm>
            <a:off x="3342578" y="2014389"/>
            <a:ext cx="7965460" cy="2829222"/>
          </a:xfrm>
        </p:spPr>
        <p:txBody>
          <a:bodyPr>
            <a:noAutofit/>
          </a:bodyPr>
          <a:lstStyle/>
          <a:p>
            <a:pPr marL="0" indent="0">
              <a:buNone/>
            </a:pPr>
            <a:r>
              <a:rPr lang="en-GB" sz="2400" dirty="0"/>
              <a:t>Before diving into Heather’s strategy, we’ll make sure everyone understands:</a:t>
            </a:r>
            <a:br>
              <a:rPr lang="en-GB" sz="2400" dirty="0"/>
            </a:br>
            <a:endParaRPr lang="en-GB" sz="2400" dirty="0"/>
          </a:p>
          <a:p>
            <a:r>
              <a:rPr lang="en-GB" sz="2400" dirty="0"/>
              <a:t>How to read a basic chart</a:t>
            </a:r>
          </a:p>
          <a:p>
            <a:r>
              <a:rPr lang="en-GB" sz="2400" dirty="0"/>
              <a:t>What the S&amp;P 500 is and why it matters</a:t>
            </a:r>
          </a:p>
          <a:p>
            <a:r>
              <a:rPr lang="en-GB" sz="2400" dirty="0"/>
              <a:t>Candles, trends, swing highs/lows</a:t>
            </a:r>
          </a:p>
          <a:p>
            <a:r>
              <a:rPr lang="en-GB" sz="2400" dirty="0"/>
              <a:t>Moving averages and why EMAs are central to the strategy</a:t>
            </a:r>
          </a:p>
          <a:p>
            <a:pPr marL="0" indent="0">
              <a:buNone/>
            </a:pPr>
            <a:r>
              <a:rPr lang="en-GB" sz="2400" dirty="0"/>
              <a:t>This gives us a strong foundation for everything that comes next.</a:t>
            </a:r>
          </a:p>
        </p:txBody>
      </p:sp>
      <p:sp>
        <p:nvSpPr>
          <p:cNvPr id="23" name="Slide Number Placeholder 22">
            <a:extLst>
              <a:ext uri="{FF2B5EF4-FFF2-40B4-BE49-F238E27FC236}">
                <a16:creationId xmlns:a16="http://schemas.microsoft.com/office/drawing/2014/main" id="{4738B070-1734-24C2-C516-48EEAE111EE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3620568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232B-C1C6-0A32-A6BB-30A9A3E37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3659C-0287-0A11-AC4E-BBBC9D9886FC}"/>
              </a:ext>
            </a:extLst>
          </p:cNvPr>
          <p:cNvSpPr>
            <a:spLocks noGrp="1"/>
          </p:cNvSpPr>
          <p:nvPr>
            <p:ph type="title"/>
          </p:nvPr>
        </p:nvSpPr>
        <p:spPr>
          <a:xfrm>
            <a:off x="3460565" y="1057274"/>
            <a:ext cx="8731435" cy="994164"/>
          </a:xfrm>
        </p:spPr>
        <p:txBody>
          <a:bodyPr/>
          <a:lstStyle/>
          <a:p>
            <a:r>
              <a:rPr lang="en-US" dirty="0"/>
              <a:t>PHASE 2: </a:t>
            </a:r>
            <a:br>
              <a:rPr lang="en-US" dirty="0"/>
            </a:br>
            <a:r>
              <a:rPr lang="en-US" dirty="0"/>
              <a:t>week 3: price lines &amp; top-down analysis</a:t>
            </a:r>
          </a:p>
        </p:txBody>
      </p:sp>
      <p:sp>
        <p:nvSpPr>
          <p:cNvPr id="3" name="Content Placeholder 2">
            <a:extLst>
              <a:ext uri="{FF2B5EF4-FFF2-40B4-BE49-F238E27FC236}">
                <a16:creationId xmlns:a16="http://schemas.microsoft.com/office/drawing/2014/main" id="{FFE182D1-B0A7-3E59-E13D-97055A83C334}"/>
              </a:ext>
            </a:extLst>
          </p:cNvPr>
          <p:cNvSpPr>
            <a:spLocks noGrp="1"/>
          </p:cNvSpPr>
          <p:nvPr>
            <p:ph sz="half" idx="2"/>
          </p:nvPr>
        </p:nvSpPr>
        <p:spPr>
          <a:xfrm>
            <a:off x="3460565" y="2688746"/>
            <a:ext cx="7965460" cy="3497698"/>
          </a:xfrm>
        </p:spPr>
        <p:txBody>
          <a:bodyPr>
            <a:normAutofit lnSpcReduction="10000"/>
          </a:bodyPr>
          <a:lstStyle/>
          <a:p>
            <a:pPr marL="0" indent="0">
              <a:buNone/>
            </a:pPr>
            <a:r>
              <a:rPr lang="en-GB" sz="2400" dirty="0"/>
              <a:t>We’ll learn how to:</a:t>
            </a:r>
          </a:p>
          <a:p>
            <a:r>
              <a:rPr lang="en-GB" sz="2400" dirty="0"/>
              <a:t>Draw clean, meaningful price levels</a:t>
            </a:r>
          </a:p>
          <a:p>
            <a:r>
              <a:rPr lang="en-GB" sz="2400" dirty="0"/>
              <a:t>Identify important wicks</a:t>
            </a:r>
          </a:p>
          <a:p>
            <a:r>
              <a:rPr lang="en-GB" sz="2400" dirty="0"/>
              <a:t>Avoid clutter</a:t>
            </a:r>
          </a:p>
          <a:p>
            <a:r>
              <a:rPr lang="en-GB" sz="2400" dirty="0"/>
              <a:t>Perform top‑down analysis (Daily → 4H → 1H → 5M)</a:t>
            </a:r>
          </a:p>
          <a:p>
            <a:pPr marL="0" indent="0">
              <a:buNone/>
            </a:pPr>
            <a:endParaRPr lang="en-GB" sz="2400" dirty="0"/>
          </a:p>
          <a:p>
            <a:pPr marL="0" indent="0">
              <a:buNone/>
            </a:pPr>
            <a:r>
              <a:rPr lang="en-GB" sz="2400" dirty="0"/>
              <a:t>Everyone will practice posting their charts, and we’ll review them together.</a:t>
            </a:r>
          </a:p>
        </p:txBody>
      </p:sp>
      <p:sp>
        <p:nvSpPr>
          <p:cNvPr id="23" name="Slide Number Placeholder 22">
            <a:extLst>
              <a:ext uri="{FF2B5EF4-FFF2-40B4-BE49-F238E27FC236}">
                <a16:creationId xmlns:a16="http://schemas.microsoft.com/office/drawing/2014/main" id="{9319F4AF-5EC7-84AE-68CC-94F7FC51DAD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4105865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1F64-5AEF-8F7A-00DE-529A0B579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6DD1BD-FA0C-835A-0CBA-649487E32548}"/>
              </a:ext>
            </a:extLst>
          </p:cNvPr>
          <p:cNvSpPr>
            <a:spLocks noGrp="1"/>
          </p:cNvSpPr>
          <p:nvPr>
            <p:ph type="title"/>
          </p:nvPr>
        </p:nvSpPr>
        <p:spPr>
          <a:xfrm>
            <a:off x="2794075" y="210398"/>
            <a:ext cx="9111432" cy="994164"/>
          </a:xfrm>
        </p:spPr>
        <p:txBody>
          <a:bodyPr/>
          <a:lstStyle/>
          <a:p>
            <a:r>
              <a:rPr lang="en-US" dirty="0"/>
              <a:t>PHASE 2: </a:t>
            </a:r>
            <a:br>
              <a:rPr lang="en-US" dirty="0"/>
            </a:br>
            <a:r>
              <a:rPr lang="en-US" dirty="0"/>
              <a:t>week 4: the 5-minute strategy</a:t>
            </a:r>
          </a:p>
        </p:txBody>
      </p:sp>
      <p:sp>
        <p:nvSpPr>
          <p:cNvPr id="3" name="Content Placeholder 2">
            <a:extLst>
              <a:ext uri="{FF2B5EF4-FFF2-40B4-BE49-F238E27FC236}">
                <a16:creationId xmlns:a16="http://schemas.microsoft.com/office/drawing/2014/main" id="{011B4F69-9508-84F8-9997-5EFFD5A0911A}"/>
              </a:ext>
            </a:extLst>
          </p:cNvPr>
          <p:cNvSpPr>
            <a:spLocks noGrp="1"/>
          </p:cNvSpPr>
          <p:nvPr>
            <p:ph sz="half" idx="2"/>
          </p:nvPr>
        </p:nvSpPr>
        <p:spPr>
          <a:xfrm>
            <a:off x="2794075" y="1451363"/>
            <a:ext cx="9657346" cy="2443612"/>
          </a:xfrm>
        </p:spPr>
        <p:txBody>
          <a:bodyPr>
            <a:noAutofit/>
          </a:bodyPr>
          <a:lstStyle/>
          <a:p>
            <a:pPr marL="0" indent="0">
              <a:buNone/>
            </a:pPr>
            <a:r>
              <a:rPr lang="en-GB" sz="2000" dirty="0"/>
              <a:t>We’ll break down the strategy step by step:</a:t>
            </a:r>
          </a:p>
          <a:p>
            <a:r>
              <a:rPr lang="en-GB" sz="2000" dirty="0"/>
              <a:t>Bias selection via 9/21 EMA cross (i.e. bullish or bearish)</a:t>
            </a:r>
          </a:p>
          <a:p>
            <a:r>
              <a:rPr lang="en-GB" sz="2000" dirty="0"/>
              <a:t>Building confluence (i.e. confidence in our bias) by combing: </a:t>
            </a:r>
          </a:p>
          <a:p>
            <a:pPr lvl="1"/>
            <a:r>
              <a:rPr lang="en-GB" sz="2000" b="1" dirty="0"/>
              <a:t>Bias</a:t>
            </a:r>
            <a:r>
              <a:rPr lang="en-GB" sz="2000" dirty="0"/>
              <a:t> pointing one way </a:t>
            </a:r>
          </a:p>
          <a:p>
            <a:pPr lvl="1"/>
            <a:r>
              <a:rPr lang="en-GB" sz="2000" b="1" dirty="0"/>
              <a:t>EMA </a:t>
            </a:r>
            <a:r>
              <a:rPr lang="en-GB" sz="2000" dirty="0"/>
              <a:t>alignment</a:t>
            </a:r>
          </a:p>
          <a:p>
            <a:pPr lvl="1"/>
            <a:r>
              <a:rPr lang="en-GB" sz="2000" b="1" dirty="0"/>
              <a:t>Chop</a:t>
            </a:r>
            <a:r>
              <a:rPr lang="en-GB" sz="2000" dirty="0"/>
              <a:t> boxes</a:t>
            </a:r>
          </a:p>
          <a:p>
            <a:pPr lvl="1"/>
            <a:r>
              <a:rPr lang="en-GB" sz="2000" b="1" dirty="0"/>
              <a:t>Fake outs </a:t>
            </a:r>
            <a:r>
              <a:rPr lang="en-GB" sz="2000" dirty="0"/>
              <a:t>(small body, long wick, next candle reverses) + liquidity grabs (market hunting stop losses)</a:t>
            </a:r>
          </a:p>
          <a:p>
            <a:pPr lvl="1"/>
            <a:r>
              <a:rPr lang="en-GB" sz="2000" b="1" dirty="0"/>
              <a:t>Breakout</a:t>
            </a:r>
            <a:r>
              <a:rPr lang="en-GB" sz="2000" dirty="0"/>
              <a:t> candle (first strong candle in the bias direction)</a:t>
            </a:r>
          </a:p>
          <a:p>
            <a:pPr lvl="1"/>
            <a:r>
              <a:rPr lang="en-GB" sz="2000" b="1" dirty="0"/>
              <a:t>Fib </a:t>
            </a:r>
            <a:r>
              <a:rPr lang="en-GB" sz="2000" dirty="0"/>
              <a:t>levels (help identify pullback after breakout candle)</a:t>
            </a:r>
          </a:p>
          <a:p>
            <a:r>
              <a:rPr lang="en-GB" sz="2000" dirty="0"/>
              <a:t>Entry + exit timing</a:t>
            </a:r>
          </a:p>
          <a:p>
            <a:r>
              <a:rPr lang="en-GB" sz="2000" dirty="0"/>
              <a:t>Avoiding traps</a:t>
            </a:r>
          </a:p>
          <a:p>
            <a:pPr marL="0" indent="0">
              <a:buNone/>
            </a:pPr>
            <a:r>
              <a:rPr lang="en-GB" sz="2000" dirty="0"/>
              <a:t>We’ll practice marking entries on historical charts and share examples in the group.</a:t>
            </a:r>
          </a:p>
        </p:txBody>
      </p:sp>
      <p:sp>
        <p:nvSpPr>
          <p:cNvPr id="23" name="Slide Number Placeholder 22">
            <a:extLst>
              <a:ext uri="{FF2B5EF4-FFF2-40B4-BE49-F238E27FC236}">
                <a16:creationId xmlns:a16="http://schemas.microsoft.com/office/drawing/2014/main" id="{5ACD647E-C461-D357-9041-BA4780CA177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3371440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70AB-1699-DC51-13DD-67EC8D986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F8F04-4E03-A665-E7A9-0FC03BA39002}"/>
              </a:ext>
            </a:extLst>
          </p:cNvPr>
          <p:cNvSpPr>
            <a:spLocks noGrp="1"/>
          </p:cNvSpPr>
          <p:nvPr>
            <p:ph type="title"/>
          </p:nvPr>
        </p:nvSpPr>
        <p:spPr>
          <a:xfrm>
            <a:off x="2566737" y="1029918"/>
            <a:ext cx="9625263" cy="994164"/>
          </a:xfrm>
        </p:spPr>
        <p:txBody>
          <a:bodyPr/>
          <a:lstStyle/>
          <a:p>
            <a:r>
              <a:rPr lang="en-US" dirty="0"/>
              <a:t>PHASE 2: </a:t>
            </a:r>
            <a:br>
              <a:rPr lang="en-US" dirty="0"/>
            </a:br>
            <a:r>
              <a:rPr lang="en-US" dirty="0"/>
              <a:t>week 5: Fibonacci retracement &amp; confluence</a:t>
            </a:r>
          </a:p>
        </p:txBody>
      </p:sp>
      <p:sp>
        <p:nvSpPr>
          <p:cNvPr id="3" name="Content Placeholder 2">
            <a:extLst>
              <a:ext uri="{FF2B5EF4-FFF2-40B4-BE49-F238E27FC236}">
                <a16:creationId xmlns:a16="http://schemas.microsoft.com/office/drawing/2014/main" id="{3A780452-EE2A-A665-FAD0-2AB7C783B3C0}"/>
              </a:ext>
            </a:extLst>
          </p:cNvPr>
          <p:cNvSpPr>
            <a:spLocks noGrp="1"/>
          </p:cNvSpPr>
          <p:nvPr>
            <p:ph sz="half" idx="2"/>
          </p:nvPr>
        </p:nvSpPr>
        <p:spPr>
          <a:xfrm>
            <a:off x="3242770" y="2481314"/>
            <a:ext cx="8662737" cy="2849686"/>
          </a:xfrm>
        </p:spPr>
        <p:txBody>
          <a:bodyPr>
            <a:noAutofit/>
          </a:bodyPr>
          <a:lstStyle/>
          <a:p>
            <a:pPr marL="0" indent="0">
              <a:buNone/>
            </a:pPr>
            <a:r>
              <a:rPr lang="en-GB" sz="2400" dirty="0"/>
              <a:t>We’ll cover:</a:t>
            </a:r>
          </a:p>
          <a:p>
            <a:r>
              <a:rPr lang="en-GB" sz="2400" dirty="0"/>
              <a:t>How to draw fibs</a:t>
            </a:r>
          </a:p>
          <a:p>
            <a:r>
              <a:rPr lang="en-GB" sz="2400" dirty="0"/>
              <a:t>How fib levels add confluence</a:t>
            </a:r>
          </a:p>
          <a:p>
            <a:r>
              <a:rPr lang="en-GB" sz="2400" dirty="0"/>
              <a:t>How fibs interact with EMAs and structure</a:t>
            </a:r>
          </a:p>
          <a:p>
            <a:pPr marL="0" indent="0">
              <a:buNone/>
            </a:pPr>
            <a:endParaRPr lang="en-GB" sz="2400" dirty="0"/>
          </a:p>
          <a:p>
            <a:pPr marL="0" indent="0">
              <a:buNone/>
            </a:pPr>
            <a:r>
              <a:rPr lang="en-GB" sz="2400" dirty="0"/>
              <a:t>This is where the strategy becomes more precise and powerful.</a:t>
            </a:r>
          </a:p>
        </p:txBody>
      </p:sp>
      <p:sp>
        <p:nvSpPr>
          <p:cNvPr id="23" name="Slide Number Placeholder 22">
            <a:extLst>
              <a:ext uri="{FF2B5EF4-FFF2-40B4-BE49-F238E27FC236}">
                <a16:creationId xmlns:a16="http://schemas.microsoft.com/office/drawing/2014/main" id="{AAA29E09-FE75-6527-C2FA-0FB754405F3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2620264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B39AC-0D5A-24C2-E772-1EEB81C65D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C2F2E-C34C-6DEB-BBAD-C3926680F967}"/>
              </a:ext>
            </a:extLst>
          </p:cNvPr>
          <p:cNvSpPr>
            <a:spLocks noGrp="1"/>
          </p:cNvSpPr>
          <p:nvPr>
            <p:ph type="title"/>
          </p:nvPr>
        </p:nvSpPr>
        <p:spPr>
          <a:xfrm>
            <a:off x="2566737" y="1029918"/>
            <a:ext cx="9625263" cy="994164"/>
          </a:xfrm>
        </p:spPr>
        <p:txBody>
          <a:bodyPr/>
          <a:lstStyle/>
          <a:p>
            <a:r>
              <a:rPr lang="en-US" dirty="0"/>
              <a:t>PHASE 1 &amp; 2 Meeting times: </a:t>
            </a:r>
            <a:br>
              <a:rPr lang="en-US" dirty="0"/>
            </a:br>
            <a:endParaRPr lang="en-US" dirty="0"/>
          </a:p>
        </p:txBody>
      </p:sp>
      <p:sp>
        <p:nvSpPr>
          <p:cNvPr id="3" name="Content Placeholder 2">
            <a:extLst>
              <a:ext uri="{FF2B5EF4-FFF2-40B4-BE49-F238E27FC236}">
                <a16:creationId xmlns:a16="http://schemas.microsoft.com/office/drawing/2014/main" id="{417C9B22-2439-A4C0-E046-3BC91E38A945}"/>
              </a:ext>
            </a:extLst>
          </p:cNvPr>
          <p:cNvSpPr>
            <a:spLocks noGrp="1"/>
          </p:cNvSpPr>
          <p:nvPr>
            <p:ph sz="half" idx="2"/>
          </p:nvPr>
        </p:nvSpPr>
        <p:spPr>
          <a:xfrm>
            <a:off x="3242770" y="2481314"/>
            <a:ext cx="8662737" cy="2849686"/>
          </a:xfrm>
        </p:spPr>
        <p:txBody>
          <a:bodyPr>
            <a:noAutofit/>
          </a:bodyPr>
          <a:lstStyle/>
          <a:p>
            <a:pPr marL="0" indent="0">
              <a:buNone/>
            </a:pPr>
            <a:r>
              <a:rPr lang="en-GB" sz="2400" dirty="0"/>
              <a:t>During both Phases 1 and 2 of our Learning Roadmap,  we will meet at the following times typically:</a:t>
            </a:r>
          </a:p>
          <a:p>
            <a:pPr marL="0" indent="0">
              <a:buNone/>
            </a:pPr>
            <a:endParaRPr lang="en-GB" sz="2400" dirty="0"/>
          </a:p>
          <a:p>
            <a:pPr marL="0" indent="0" algn="ctr">
              <a:buNone/>
            </a:pPr>
            <a:r>
              <a:rPr lang="en-GB" sz="2400" b="1" dirty="0"/>
              <a:t>Sunday 4pm EST / 9pm UK</a:t>
            </a:r>
          </a:p>
          <a:p>
            <a:pPr marL="0" indent="0">
              <a:buNone/>
            </a:pPr>
            <a:endParaRPr lang="en-GB" sz="2400" dirty="0"/>
          </a:p>
          <a:p>
            <a:pPr marL="0" indent="0">
              <a:buNone/>
            </a:pPr>
            <a:r>
              <a:rPr lang="en-GB" sz="2400" b="1" dirty="0"/>
              <a:t>Use the ‘events’ page in our Facebook group to find all  scheduled meetings. </a:t>
            </a:r>
          </a:p>
        </p:txBody>
      </p:sp>
      <p:sp>
        <p:nvSpPr>
          <p:cNvPr id="23" name="Slide Number Placeholder 22">
            <a:extLst>
              <a:ext uri="{FF2B5EF4-FFF2-40B4-BE49-F238E27FC236}">
                <a16:creationId xmlns:a16="http://schemas.microsoft.com/office/drawing/2014/main" id="{332CBD30-F6F3-0E77-6A11-2CB911661D8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4065108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31145-4460-F4B9-31C0-5B41CDE67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0BF79-889D-598F-D816-94E1005544D6}"/>
              </a:ext>
            </a:extLst>
          </p:cNvPr>
          <p:cNvSpPr>
            <a:spLocks noGrp="1"/>
          </p:cNvSpPr>
          <p:nvPr>
            <p:ph type="title"/>
          </p:nvPr>
        </p:nvSpPr>
        <p:spPr>
          <a:xfrm>
            <a:off x="3460565" y="1057274"/>
            <a:ext cx="7965461" cy="994164"/>
          </a:xfrm>
        </p:spPr>
        <p:txBody>
          <a:bodyPr/>
          <a:lstStyle/>
          <a:p>
            <a:r>
              <a:rPr lang="en-US" dirty="0"/>
              <a:t>PHASE 3: Weekly or Twice‑Weekly Calls (Ongoing)</a:t>
            </a:r>
          </a:p>
        </p:txBody>
      </p:sp>
      <p:sp>
        <p:nvSpPr>
          <p:cNvPr id="3" name="Content Placeholder 2">
            <a:extLst>
              <a:ext uri="{FF2B5EF4-FFF2-40B4-BE49-F238E27FC236}">
                <a16:creationId xmlns:a16="http://schemas.microsoft.com/office/drawing/2014/main" id="{5B104C5C-1FCD-5C78-B4BC-DBB4AC421F5D}"/>
              </a:ext>
            </a:extLst>
          </p:cNvPr>
          <p:cNvSpPr>
            <a:spLocks noGrp="1"/>
          </p:cNvSpPr>
          <p:nvPr>
            <p:ph sz="half" idx="2"/>
          </p:nvPr>
        </p:nvSpPr>
        <p:spPr>
          <a:xfrm>
            <a:off x="2999874" y="2376203"/>
            <a:ext cx="8426152" cy="3497698"/>
          </a:xfrm>
        </p:spPr>
        <p:txBody>
          <a:bodyPr>
            <a:noAutofit/>
          </a:bodyPr>
          <a:lstStyle/>
          <a:p>
            <a:pPr marL="0" indent="0">
              <a:spcAft>
                <a:spcPts val="500"/>
              </a:spcAft>
              <a:buNone/>
            </a:pPr>
            <a:r>
              <a:rPr lang="en-GB" sz="2000" i="1" dirty="0"/>
              <a:t>Consistent learning, community support, and shared progress</a:t>
            </a:r>
            <a:endParaRPr lang="en-GB" dirty="0"/>
          </a:p>
          <a:p>
            <a:pPr marL="0" indent="0">
              <a:buNone/>
            </a:pPr>
            <a:r>
              <a:rPr lang="en-GB" sz="2000" dirty="0"/>
              <a:t>Once we’re in the structured learning phase, we’ll hold regular calls. These will include:</a:t>
            </a:r>
          </a:p>
          <a:p>
            <a:r>
              <a:rPr lang="en-GB" sz="2000" dirty="0"/>
              <a:t>A topic of the week</a:t>
            </a:r>
          </a:p>
          <a:p>
            <a:r>
              <a:rPr lang="en-GB" sz="2000" dirty="0"/>
              <a:t>Live chart walkthroughs</a:t>
            </a:r>
          </a:p>
          <a:p>
            <a:r>
              <a:rPr lang="en-GB" sz="2000" dirty="0"/>
              <a:t>Group practice</a:t>
            </a:r>
          </a:p>
          <a:p>
            <a:r>
              <a:rPr lang="en-GB" sz="2000" dirty="0"/>
              <a:t>Q&amp;A</a:t>
            </a:r>
          </a:p>
          <a:p>
            <a:r>
              <a:rPr lang="en-GB" sz="2000" dirty="0"/>
              <a:t>Homework or chart exercises</a:t>
            </a:r>
          </a:p>
          <a:p>
            <a:pPr marL="0" indent="0">
              <a:buNone/>
            </a:pPr>
            <a:r>
              <a:rPr lang="en-GB" sz="2000" dirty="0"/>
              <a:t>We’ll choose times that work for the majority (most members are EST), while still keeping things manageable for those in other time zones.</a:t>
            </a:r>
          </a:p>
        </p:txBody>
      </p:sp>
      <p:sp>
        <p:nvSpPr>
          <p:cNvPr id="23" name="Slide Number Placeholder 22">
            <a:extLst>
              <a:ext uri="{FF2B5EF4-FFF2-40B4-BE49-F238E27FC236}">
                <a16:creationId xmlns:a16="http://schemas.microsoft.com/office/drawing/2014/main" id="{2037D42F-D623-D13E-FE3F-A80F084AE91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565122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FCF4-9405-3EC9-E700-DA9B0364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72B9B-9091-712A-A3A1-48DAB2B3F0D1}"/>
              </a:ext>
            </a:extLst>
          </p:cNvPr>
          <p:cNvSpPr>
            <a:spLocks noGrp="1"/>
          </p:cNvSpPr>
          <p:nvPr>
            <p:ph type="title"/>
          </p:nvPr>
        </p:nvSpPr>
        <p:spPr>
          <a:xfrm>
            <a:off x="3460565" y="195861"/>
            <a:ext cx="7965461" cy="994164"/>
          </a:xfrm>
        </p:spPr>
        <p:txBody>
          <a:bodyPr/>
          <a:lstStyle/>
          <a:p>
            <a:r>
              <a:rPr lang="en-US" dirty="0"/>
              <a:t>PHASE 4:  Trading Challenges (Ongoing)</a:t>
            </a:r>
          </a:p>
        </p:txBody>
      </p:sp>
      <p:sp>
        <p:nvSpPr>
          <p:cNvPr id="3" name="Content Placeholder 2">
            <a:extLst>
              <a:ext uri="{FF2B5EF4-FFF2-40B4-BE49-F238E27FC236}">
                <a16:creationId xmlns:a16="http://schemas.microsoft.com/office/drawing/2014/main" id="{3D0DECE9-3E25-BECD-7144-ED0C8E1964E7}"/>
              </a:ext>
            </a:extLst>
          </p:cNvPr>
          <p:cNvSpPr>
            <a:spLocks noGrp="1"/>
          </p:cNvSpPr>
          <p:nvPr>
            <p:ph sz="half" idx="2"/>
          </p:nvPr>
        </p:nvSpPr>
        <p:spPr>
          <a:xfrm>
            <a:off x="2999874" y="1403237"/>
            <a:ext cx="8426152" cy="3497698"/>
          </a:xfrm>
        </p:spPr>
        <p:txBody>
          <a:bodyPr>
            <a:noAutofit/>
          </a:bodyPr>
          <a:lstStyle/>
          <a:p>
            <a:pPr marL="0" indent="0">
              <a:buNone/>
            </a:pPr>
            <a:r>
              <a:rPr lang="en-GB" i="1" dirty="0"/>
              <a:t>Putting the strategy into practice together</a:t>
            </a:r>
            <a:endParaRPr lang="en-GB" dirty="0"/>
          </a:p>
          <a:p>
            <a:pPr marL="0" indent="0">
              <a:buNone/>
            </a:pPr>
            <a:r>
              <a:rPr lang="en-GB" dirty="0"/>
              <a:t>Once everyone is comfortable with the strategy and platform setup, we’ll begin group trading challenges.</a:t>
            </a:r>
          </a:p>
          <a:p>
            <a:pPr marL="0" indent="0">
              <a:buNone/>
            </a:pPr>
            <a:r>
              <a:rPr lang="en-GB" b="1" dirty="0"/>
              <a:t>How it works:</a:t>
            </a:r>
          </a:p>
          <a:p>
            <a:r>
              <a:rPr lang="en-GB" dirty="0"/>
              <a:t>We pick a day to trade the 5‑minute chart</a:t>
            </a:r>
          </a:p>
          <a:p>
            <a:r>
              <a:rPr lang="en-GB" dirty="0"/>
              <a:t>Everyone takes the same trade (paper or real)</a:t>
            </a:r>
          </a:p>
          <a:p>
            <a:r>
              <a:rPr lang="en-GB" dirty="0"/>
              <a:t>After market close, we review the trade together</a:t>
            </a:r>
          </a:p>
          <a:p>
            <a:r>
              <a:rPr lang="en-GB" dirty="0"/>
              <a:t>We share:</a:t>
            </a:r>
          </a:p>
          <a:p>
            <a:pPr lvl="1"/>
            <a:r>
              <a:rPr lang="en-GB" dirty="0"/>
              <a:t>Our levels</a:t>
            </a:r>
          </a:p>
          <a:p>
            <a:pPr lvl="1"/>
            <a:r>
              <a:rPr lang="en-GB" dirty="0"/>
              <a:t>Our bias</a:t>
            </a:r>
          </a:p>
          <a:p>
            <a:pPr lvl="1"/>
            <a:r>
              <a:rPr lang="en-GB" dirty="0"/>
              <a:t>Our entry</a:t>
            </a:r>
          </a:p>
          <a:p>
            <a:pPr lvl="1"/>
            <a:r>
              <a:rPr lang="en-GB" dirty="0"/>
              <a:t>Our results</a:t>
            </a:r>
          </a:p>
          <a:p>
            <a:pPr lvl="1"/>
            <a:r>
              <a:rPr lang="en-GB" dirty="0"/>
              <a:t>What we learned</a:t>
            </a:r>
          </a:p>
          <a:p>
            <a:pPr marL="0" indent="0">
              <a:buNone/>
            </a:pPr>
            <a:r>
              <a:rPr lang="en-GB" dirty="0"/>
              <a:t>This builds confidence, sharpens skills, and helps us grow through shared experience.</a:t>
            </a:r>
          </a:p>
        </p:txBody>
      </p:sp>
      <p:sp>
        <p:nvSpPr>
          <p:cNvPr id="23" name="Slide Number Placeholder 22">
            <a:extLst>
              <a:ext uri="{FF2B5EF4-FFF2-40B4-BE49-F238E27FC236}">
                <a16:creationId xmlns:a16="http://schemas.microsoft.com/office/drawing/2014/main" id="{3993949A-A844-02F5-A13E-B5DFE0D71F29}"/>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1290413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B9F37-0351-EABF-1B11-5916563C0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B1A5A-EB05-09D5-EBEE-AE10904FBBA8}"/>
              </a:ext>
            </a:extLst>
          </p:cNvPr>
          <p:cNvSpPr>
            <a:spLocks noGrp="1"/>
          </p:cNvSpPr>
          <p:nvPr>
            <p:ph type="title"/>
          </p:nvPr>
        </p:nvSpPr>
        <p:spPr>
          <a:xfrm>
            <a:off x="4382410" y="-17547"/>
            <a:ext cx="7043617" cy="2520217"/>
          </a:xfrm>
        </p:spPr>
        <p:txBody>
          <a:bodyPr/>
          <a:lstStyle/>
          <a:p>
            <a:r>
              <a:rPr lang="en-GB" dirty="0"/>
              <a:t>We prioritise Growth over speed</a:t>
            </a:r>
          </a:p>
        </p:txBody>
      </p:sp>
      <p:sp>
        <p:nvSpPr>
          <p:cNvPr id="3" name="Slide Number Placeholder 2">
            <a:extLst>
              <a:ext uri="{FF2B5EF4-FFF2-40B4-BE49-F238E27FC236}">
                <a16:creationId xmlns:a16="http://schemas.microsoft.com/office/drawing/2014/main" id="{D0AF6DCC-5BFC-E9BE-C6EA-02FAF1691BC2}"/>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18</a:t>
            </a:fld>
            <a:endParaRPr lang="en-US" dirty="0"/>
          </a:p>
        </p:txBody>
      </p:sp>
      <p:sp>
        <p:nvSpPr>
          <p:cNvPr id="4" name="Content Placeholder 3">
            <a:extLst>
              <a:ext uri="{FF2B5EF4-FFF2-40B4-BE49-F238E27FC236}">
                <a16:creationId xmlns:a16="http://schemas.microsoft.com/office/drawing/2014/main" id="{179396F8-9BF1-4686-4EBF-48D19F6C9144}"/>
              </a:ext>
            </a:extLst>
          </p:cNvPr>
          <p:cNvSpPr>
            <a:spLocks noGrp="1"/>
          </p:cNvSpPr>
          <p:nvPr>
            <p:ph idx="11"/>
          </p:nvPr>
        </p:nvSpPr>
        <p:spPr>
          <a:xfrm>
            <a:off x="4364808" y="2977416"/>
            <a:ext cx="7043618" cy="2233233"/>
          </a:xfrm>
        </p:spPr>
        <p:txBody>
          <a:bodyPr>
            <a:noAutofit/>
          </a:bodyPr>
          <a:lstStyle/>
          <a:p>
            <a:r>
              <a:rPr lang="en-GB" sz="2200" dirty="0"/>
              <a:t>As this community is about learning </a:t>
            </a:r>
            <a:r>
              <a:rPr lang="en-GB" sz="2200" i="1" dirty="0"/>
              <a:t>together, </a:t>
            </a:r>
            <a:r>
              <a:rPr lang="en-GB" sz="2200" dirty="0"/>
              <a:t>our focus is on growth over speed. </a:t>
            </a:r>
          </a:p>
          <a:p>
            <a:endParaRPr lang="en-GB" sz="2200" dirty="0"/>
          </a:p>
          <a:p>
            <a:r>
              <a:rPr lang="en-GB" sz="2200" dirty="0"/>
              <a:t>This means, if we need to spend several sessions to master one particular topic, we will prioritise this over moving forward without having a solid understanding. </a:t>
            </a:r>
          </a:p>
        </p:txBody>
      </p:sp>
    </p:spTree>
    <p:extLst>
      <p:ext uri="{BB962C8B-B14F-4D97-AF65-F5344CB8AC3E}">
        <p14:creationId xmlns:p14="http://schemas.microsoft.com/office/powerpoint/2010/main" val="3738073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7412-0186-62F9-EC01-575A0F8D4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8A15-9C8B-A33A-0919-8CB5B2AF4D1A}"/>
              </a:ext>
            </a:extLst>
          </p:cNvPr>
          <p:cNvSpPr>
            <a:spLocks noGrp="1"/>
          </p:cNvSpPr>
          <p:nvPr>
            <p:ph type="title"/>
          </p:nvPr>
        </p:nvSpPr>
        <p:spPr>
          <a:xfrm>
            <a:off x="4382410" y="-17547"/>
            <a:ext cx="7043617" cy="2520217"/>
          </a:xfrm>
        </p:spPr>
        <p:txBody>
          <a:bodyPr/>
          <a:lstStyle/>
          <a:p>
            <a:r>
              <a:rPr lang="en-GB" dirty="0"/>
              <a:t>The Spirit of the Group</a:t>
            </a:r>
          </a:p>
        </p:txBody>
      </p:sp>
      <p:sp>
        <p:nvSpPr>
          <p:cNvPr id="3" name="Slide Number Placeholder 2">
            <a:extLst>
              <a:ext uri="{FF2B5EF4-FFF2-40B4-BE49-F238E27FC236}">
                <a16:creationId xmlns:a16="http://schemas.microsoft.com/office/drawing/2014/main" id="{8BF7791F-0521-3793-BA0A-FF949C4617DE}"/>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19</a:t>
            </a:fld>
            <a:endParaRPr lang="en-US" dirty="0"/>
          </a:p>
        </p:txBody>
      </p:sp>
      <p:sp>
        <p:nvSpPr>
          <p:cNvPr id="4" name="Content Placeholder 3">
            <a:extLst>
              <a:ext uri="{FF2B5EF4-FFF2-40B4-BE49-F238E27FC236}">
                <a16:creationId xmlns:a16="http://schemas.microsoft.com/office/drawing/2014/main" id="{1EA34003-EB62-D443-19A8-F96BD8B66C50}"/>
              </a:ext>
            </a:extLst>
          </p:cNvPr>
          <p:cNvSpPr>
            <a:spLocks noGrp="1"/>
          </p:cNvSpPr>
          <p:nvPr>
            <p:ph idx="11"/>
          </p:nvPr>
        </p:nvSpPr>
        <p:spPr>
          <a:xfrm>
            <a:off x="4364808" y="2977416"/>
            <a:ext cx="7043618" cy="2233233"/>
          </a:xfrm>
        </p:spPr>
        <p:txBody>
          <a:bodyPr>
            <a:noAutofit/>
          </a:bodyPr>
          <a:lstStyle/>
          <a:p>
            <a:r>
              <a:rPr lang="en-GB" sz="2200" dirty="0"/>
              <a:t>This community is about learning </a:t>
            </a:r>
            <a:r>
              <a:rPr lang="en-GB" sz="2200" i="1" dirty="0"/>
              <a:t>together</a:t>
            </a:r>
            <a:r>
              <a:rPr lang="en-GB" sz="2200" dirty="0"/>
              <a:t>.</a:t>
            </a:r>
          </a:p>
          <a:p>
            <a:br>
              <a:rPr lang="en-GB" sz="2200" dirty="0"/>
            </a:br>
            <a:r>
              <a:rPr lang="en-GB" sz="2200" dirty="0"/>
              <a:t>We support each other, share insights, and grow as a team.</a:t>
            </a:r>
            <a:br>
              <a:rPr lang="en-GB" sz="2200" dirty="0"/>
            </a:br>
            <a:r>
              <a:rPr lang="en-GB" sz="2200" dirty="0"/>
              <a:t>The pace is steady, the environment is encouraging, and the goal is mastery through collaboration.</a:t>
            </a:r>
          </a:p>
          <a:p>
            <a:endParaRPr lang="en-GB" sz="2200" dirty="0"/>
          </a:p>
          <a:p>
            <a:r>
              <a:rPr lang="en-GB" sz="2200" dirty="0"/>
              <a:t>I’ll guide the structure, host the calls, and help break down the strategy — but the real strength of this group comes from everyone contributing, asking questions, and helping each other succeed.</a:t>
            </a:r>
          </a:p>
        </p:txBody>
      </p:sp>
    </p:spTree>
    <p:extLst>
      <p:ext uri="{BB962C8B-B14F-4D97-AF65-F5344CB8AC3E}">
        <p14:creationId xmlns:p14="http://schemas.microsoft.com/office/powerpoint/2010/main" val="1886077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Questions / thoughts?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113171805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purl.org/dc/elements/1.1/"/>
    <ds:schemaRef ds:uri="16c05727-aa75-4e4a-9b5f-8a80a1165891"/>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schemas.microsoft.com/office/2006/metadata/properties"/>
    <ds:schemaRef ds:uri="230e9df3-be65-4c73-a93b-d1236ebd677e"/>
    <ds:schemaRef ds:uri="http://schemas.microsoft.com/sharepoint/v3"/>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color block</Template>
  <TotalTime>3074</TotalTime>
  <Words>1297</Words>
  <Application>Microsoft Office PowerPoint</Application>
  <PresentationFormat>Widescreen</PresentationFormat>
  <Paragraphs>149</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Black</vt:lpstr>
      <vt:lpstr>Calibri</vt:lpstr>
      <vt:lpstr>Sabon Next LT</vt:lpstr>
      <vt:lpstr>Custom</vt:lpstr>
      <vt:lpstr>Welcome  5MTC SLOWER PACED study GROUP  how this group works </vt:lpstr>
      <vt:lpstr>agenda</vt:lpstr>
      <vt:lpstr>Welcome to the 5-minute trader slower paced study group</vt:lpstr>
      <vt:lpstr>Group rules &amp; culture</vt:lpstr>
      <vt:lpstr>Central Resource HUB</vt:lpstr>
      <vt:lpstr>AI Agent – ‘Ask The Notes’</vt:lpstr>
      <vt:lpstr>THE FOLLOWING SLIDES contain OUR COMMUNITY LEARNING ROADMAP  </vt:lpstr>
      <vt:lpstr>PHASE 1: FOUNDATION REVIEW (now → 26 July)</vt:lpstr>
      <vt:lpstr>PHASE 2: weekly workshops (after 26 July)</vt:lpstr>
      <vt:lpstr>PHASE 2:  week 1: PlatfORM SETUP</vt:lpstr>
      <vt:lpstr>PHASE 2:  week 2: core fundamentals</vt:lpstr>
      <vt:lpstr>PHASE 2:  week 3: price lines &amp; top-down analysis</vt:lpstr>
      <vt:lpstr>PHASE 2:  week 4: the 5-minute strategy</vt:lpstr>
      <vt:lpstr>PHASE 2:  week 5: Fibonacci retracement &amp; confluence</vt:lpstr>
      <vt:lpstr>PHASE 1 &amp; 2 Meeting times:  </vt:lpstr>
      <vt:lpstr>PHASE 3: Weekly or Twice‑Weekly Calls (Ongoing)</vt:lpstr>
      <vt:lpstr>PHASE 4:  Trading Challenges (Ongoing)</vt:lpstr>
      <vt:lpstr>We prioritise Growth over speed</vt:lpstr>
      <vt:lpstr>The Spirit of the Group</vt:lpstr>
      <vt:lpstr>Questions /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caroline martin</dc:creator>
  <cp:lastModifiedBy>caroline martin</cp:lastModifiedBy>
  <cp:revision>27</cp:revision>
  <dcterms:created xsi:type="dcterms:W3CDTF">2026-07-19T18:24:54Z</dcterms:created>
  <dcterms:modified xsi:type="dcterms:W3CDTF">2026-07-21T23:22:10Z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