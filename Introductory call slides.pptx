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4" r:id="rId6"/>
    <p:sldId id="307" r:id="rId7"/>
    <p:sldId id="323" r:id="rId8"/>
    <p:sldId id="282" r:id="rId9"/>
    <p:sldId id="324" r:id="rId10"/>
    <p:sldId id="325" r:id="rId11"/>
    <p:sldId id="326" r:id="rId12"/>
    <p:sldId id="327" r:id="rId13"/>
    <p:sldId id="328" r:id="rId14"/>
    <p:sldId id="329" r:id="rId15"/>
    <p:sldId id="331" r:id="rId16"/>
    <p:sldId id="332" r:id="rId17"/>
    <p:sldId id="330" r:id="rId18"/>
    <p:sldId id="314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48" d="100"/>
          <a:sy n="48" d="100"/>
        </p:scale>
        <p:origin x="67" y="715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31B5D-485B-3627-F5F9-0879D2F9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954B5-2A2C-D2C1-EA7E-FD7F17BDA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D6A3C-EE89-73E2-7247-35A1AF2A9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42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6075-95E9-DE1D-413C-993EA8FD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34C33-439D-351A-6343-F599549A7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7B7F8-7AFA-CFCB-368A-EBAC8A868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1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61CF9-5411-4A4E-A8E4-352F8644D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ABCA8-BBA2-4057-6D88-6E4E732AF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2FA13-0F17-3F56-649B-A36473405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35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7143D-EBCD-DCD7-E6A1-648632B0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2CCA9-ED43-1D4C-05DA-9C271A584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F0675-F10A-983F-FEF9-E5F62F199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357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15B2F-B2E3-3840-A8E1-B35812AD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52AD1-91A4-A75F-6AAE-3D1F55F8F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3FF34-D620-2431-8A05-6F15F0BFC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3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45ECC-90D4-C134-6E8E-7C94516A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44D82-CC30-3369-9595-05729926C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48320-BC6A-445C-B158-DE532F7BB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793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667A-68DB-8F20-CE76-93187FFD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FD500-FDCB-0255-C70B-C42B623CC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F8544-B4B2-A6D7-B170-4D52CDA5E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4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53B2B-5112-F2DF-5BDB-F19C0B4E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D2C2D-56C8-0591-701B-87CB42008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B8ACD-9388-E24E-F74B-D8C300021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26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92AF-A876-22A3-2EC9-D2CDCE82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DF8E5-811C-B78B-54E9-E0CDEA48E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8EB1E-08BB-253C-5C72-E1E5393D4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49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72399-408F-847A-C7AF-51B7A8A4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E6C52-9454-C6A8-1550-FBDC73C04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BB28A-7781-1832-E4FD-46D829A68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847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Welcome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5MTC SLOWER PACED STUDUY GROUP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introductory </a:t>
            </a:r>
            <a:br>
              <a:rPr lang="en-US" dirty="0"/>
            </a:br>
            <a:r>
              <a:rPr lang="en-US" dirty="0"/>
              <a:t>call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Group Rules &amp; Culture</a:t>
            </a:r>
          </a:p>
          <a:p>
            <a:r>
              <a:rPr lang="en-US" dirty="0"/>
              <a:t>Icebreaker</a:t>
            </a:r>
          </a:p>
          <a:p>
            <a:r>
              <a:rPr lang="en-US" dirty="0"/>
              <a:t>Proposed Learning Roadmap (phases 1 to 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910" y="540513"/>
            <a:ext cx="7748089" cy="2065035"/>
          </a:xfrm>
        </p:spPr>
        <p:txBody>
          <a:bodyPr/>
          <a:lstStyle/>
          <a:p>
            <a:r>
              <a:rPr lang="en-US" dirty="0"/>
              <a:t>Welcome to the 5-minute trader slower paced study group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E11F4B-5309-CE8B-4CC9-8AFA104ADCB2}"/>
              </a:ext>
            </a:extLst>
          </p:cNvPr>
          <p:cNvSpPr txBox="1">
            <a:spLocks/>
          </p:cNvSpPr>
          <p:nvPr/>
        </p:nvSpPr>
        <p:spPr>
          <a:xfrm>
            <a:off x="1395910" y="2952627"/>
            <a:ext cx="6583680" cy="3207344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</a:pPr>
            <a:r>
              <a:rPr lang="en-US" dirty="0"/>
              <a:t>Growth-focused learning</a:t>
            </a:r>
          </a:p>
          <a:p>
            <a:pPr>
              <a:spcAft>
                <a:spcPts val="500"/>
              </a:spcAft>
            </a:pPr>
            <a:r>
              <a:rPr lang="en-US" dirty="0"/>
              <a:t>Supportive + challenging</a:t>
            </a:r>
          </a:p>
          <a:p>
            <a:pPr>
              <a:spcAft>
                <a:spcPts val="500"/>
              </a:spcAft>
            </a:pPr>
            <a:r>
              <a:rPr lang="en-US" dirty="0"/>
              <a:t>Clear roadmap ahead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EC3A-437F-7533-9595-C7999021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D6D7-B06E-EF9A-ACBB-0B702954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910" y="540513"/>
            <a:ext cx="7748089" cy="2065035"/>
          </a:xfrm>
        </p:spPr>
        <p:txBody>
          <a:bodyPr/>
          <a:lstStyle/>
          <a:p>
            <a:r>
              <a:rPr lang="en-US" dirty="0"/>
              <a:t>Group rules &amp; culture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3621CE-6503-7A24-14B2-697A9EAAA1B6}"/>
              </a:ext>
            </a:extLst>
          </p:cNvPr>
          <p:cNvSpPr txBox="1">
            <a:spLocks/>
          </p:cNvSpPr>
          <p:nvPr/>
        </p:nvSpPr>
        <p:spPr>
          <a:xfrm>
            <a:off x="1700710" y="2605548"/>
            <a:ext cx="6583680" cy="3207344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</a:pPr>
            <a:r>
              <a:rPr lang="en-US" dirty="0"/>
              <a:t>Kindness + respect</a:t>
            </a:r>
          </a:p>
          <a:p>
            <a:pPr>
              <a:spcAft>
                <a:spcPts val="500"/>
              </a:spcAft>
            </a:pPr>
            <a:r>
              <a:rPr lang="en-US" dirty="0"/>
              <a:t>Privacy stays here</a:t>
            </a:r>
          </a:p>
          <a:p>
            <a:pPr>
              <a:spcAft>
                <a:spcPts val="500"/>
              </a:spcAft>
            </a:pPr>
            <a:r>
              <a:rPr lang="en-US" dirty="0"/>
              <a:t>No one left behind</a:t>
            </a:r>
          </a:p>
          <a:p>
            <a:pPr>
              <a:spcAft>
                <a:spcPts val="500"/>
              </a:spcAft>
            </a:pPr>
            <a:r>
              <a:rPr lang="en-US" dirty="0"/>
              <a:t>No external sharing</a:t>
            </a:r>
          </a:p>
          <a:p>
            <a:pPr>
              <a:spcAft>
                <a:spcPts val="500"/>
              </a:spcAft>
            </a:pPr>
            <a:r>
              <a:rPr lang="en-US" dirty="0"/>
              <a:t>Challenge = growth</a:t>
            </a:r>
          </a:p>
        </p:txBody>
      </p:sp>
    </p:spTree>
    <p:extLst>
      <p:ext uri="{BB962C8B-B14F-4D97-AF65-F5344CB8AC3E}">
        <p14:creationId xmlns:p14="http://schemas.microsoft.com/office/powerpoint/2010/main" val="1494441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PHASE 1: FOUNDATION REVIEW (now – 26 July)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784998"/>
            <a:ext cx="7965460" cy="3497698"/>
          </a:xfrm>
        </p:spPr>
        <p:txBody>
          <a:bodyPr>
            <a:normAutofit/>
          </a:bodyPr>
          <a:lstStyle/>
          <a:p>
            <a:r>
              <a:rPr lang="en-GB" sz="2400" dirty="0"/>
              <a:t>Rewatch the videos at your own pace</a:t>
            </a:r>
          </a:p>
          <a:p>
            <a:r>
              <a:rPr lang="en-GB" sz="2400" dirty="0"/>
              <a:t>Share insights, screenshots, and “aha moments” in the group</a:t>
            </a:r>
          </a:p>
          <a:p>
            <a:r>
              <a:rPr lang="en-GB" sz="2400" dirty="0"/>
              <a:t>Ask questions and help each other understand tricky parts</a:t>
            </a:r>
          </a:p>
          <a:p>
            <a:r>
              <a:rPr lang="en-GB" sz="2400" dirty="0"/>
              <a:t>This keeps the group active and learning together while everyone gets comfortable with the material.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2627-E5E8-2F64-33B3-9E75393D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E5EDB-17D1-803E-4369-F45BA5E7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831978"/>
            <a:ext cx="7965461" cy="994164"/>
          </a:xfrm>
        </p:spPr>
        <p:txBody>
          <a:bodyPr/>
          <a:lstStyle/>
          <a:p>
            <a:r>
              <a:rPr lang="en-US" dirty="0"/>
              <a:t>PHASE 2: weekly workshops (after 26 July)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0E6E-F162-09EA-53CF-98515B767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200921"/>
            <a:ext cx="7965460" cy="3497698"/>
          </a:xfrm>
        </p:spPr>
        <p:txBody>
          <a:bodyPr>
            <a:noAutofit/>
          </a:bodyPr>
          <a:lstStyle/>
          <a:p>
            <a:r>
              <a:rPr lang="en-GB" sz="2400" dirty="0"/>
              <a:t>Each week focuses on one core topic from our roadmap</a:t>
            </a:r>
          </a:p>
          <a:p>
            <a:r>
              <a:rPr lang="en-GB" sz="2400" dirty="0"/>
              <a:t>We learn it together on a live call</a:t>
            </a:r>
          </a:p>
          <a:p>
            <a:r>
              <a:rPr lang="en-GB" sz="2400" dirty="0"/>
              <a:t>We practise the skills during the session</a:t>
            </a:r>
          </a:p>
          <a:p>
            <a:r>
              <a:rPr lang="en-GB" sz="2400" dirty="0"/>
              <a:t>Everyone gets hands‑on support</a:t>
            </a:r>
          </a:p>
          <a:p>
            <a:r>
              <a:rPr lang="en-GB" sz="2400" dirty="0"/>
              <a:t>We </a:t>
            </a:r>
            <a:r>
              <a:rPr lang="en-GB" sz="2400" b="1" dirty="0"/>
              <a:t>do not move on to the next week</a:t>
            </a:r>
            <a:r>
              <a:rPr lang="en-GB" sz="2400" dirty="0"/>
              <a:t> until the whole group is comfortable with the material</a:t>
            </a:r>
          </a:p>
          <a:p>
            <a:r>
              <a:rPr lang="en-GB" sz="2400" dirty="0"/>
              <a:t>This ensures nobody gets left behind and everyone builds confidence at the same pace</a:t>
            </a:r>
          </a:p>
          <a:p>
            <a:r>
              <a:rPr lang="en-GB" sz="2400" b="1" dirty="0"/>
              <a:t>Your commitment matters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4646C20-3B19-F0F7-7DE3-142381D2D3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87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C04EF-88D2-5DCE-223F-B7133835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CAAC-DC3F-8B82-075A-B4598522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PHASE 2: </a:t>
            </a:r>
            <a:br>
              <a:rPr lang="en-US" dirty="0"/>
            </a:br>
            <a:r>
              <a:rPr lang="en-US" dirty="0"/>
              <a:t>week 1: </a:t>
            </a:r>
            <a:r>
              <a:rPr lang="en-US" dirty="0" err="1"/>
              <a:t>PlatfORM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7EED-9F80-82B5-04F0-B674DD57E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3057714"/>
            <a:ext cx="7965460" cy="3497698"/>
          </a:xfrm>
        </p:spPr>
        <p:txBody>
          <a:bodyPr>
            <a:normAutofit/>
          </a:bodyPr>
          <a:lstStyle/>
          <a:p>
            <a:r>
              <a:rPr lang="en-US" sz="2800" dirty="0"/>
              <a:t>Charles Schwab account setup</a:t>
            </a:r>
          </a:p>
          <a:p>
            <a:r>
              <a:rPr lang="en-US" sz="2800" dirty="0" err="1"/>
              <a:t>ThinkorSwim</a:t>
            </a:r>
            <a:r>
              <a:rPr lang="en-US" sz="2800" dirty="0"/>
              <a:t> setup</a:t>
            </a:r>
          </a:p>
          <a:p>
            <a:r>
              <a:rPr lang="en-US" sz="2800" dirty="0" err="1"/>
              <a:t>TradingView</a:t>
            </a:r>
            <a:r>
              <a:rPr lang="en-US" sz="2800" dirty="0"/>
              <a:t> setup</a:t>
            </a:r>
          </a:p>
          <a:p>
            <a:r>
              <a:rPr lang="en-US" sz="2800" dirty="0"/>
              <a:t>Risk management essentials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6470832-A317-90B2-6E3F-FE9C12603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93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C2C79-FF88-51F2-6750-ABF909F36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0436-75E4-9335-AFC2-081E0EB4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1596" y="720390"/>
            <a:ext cx="8731435" cy="994164"/>
          </a:xfrm>
        </p:spPr>
        <p:txBody>
          <a:bodyPr/>
          <a:lstStyle/>
          <a:p>
            <a:r>
              <a:rPr lang="en-US" dirty="0"/>
              <a:t>PHASE 2: </a:t>
            </a:r>
            <a:br>
              <a:rPr lang="en-US" dirty="0"/>
            </a:br>
            <a:r>
              <a:rPr lang="en-US" dirty="0"/>
              <a:t>week 2: core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6555B-B122-61DF-D45C-B065BC50B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42578" y="2014389"/>
            <a:ext cx="7965460" cy="28292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Before diving into Heather’s strategy, we’ll make sure everyone understands:</a:t>
            </a:r>
            <a:br>
              <a:rPr lang="en-GB" sz="2400" dirty="0"/>
            </a:br>
            <a:endParaRPr lang="en-GB" sz="2400" dirty="0"/>
          </a:p>
          <a:p>
            <a:r>
              <a:rPr lang="en-GB" sz="2400" dirty="0"/>
              <a:t>How to read a basic chart</a:t>
            </a:r>
          </a:p>
          <a:p>
            <a:r>
              <a:rPr lang="en-GB" sz="2400" dirty="0"/>
              <a:t>What the S&amp;P 500 is and why it matters</a:t>
            </a:r>
          </a:p>
          <a:p>
            <a:r>
              <a:rPr lang="en-GB" sz="2400" dirty="0"/>
              <a:t>Candles, trends, swing highs/lows</a:t>
            </a:r>
          </a:p>
          <a:p>
            <a:r>
              <a:rPr lang="en-GB" sz="2400" dirty="0"/>
              <a:t>Moving averages and why EMAs are central to the strategy</a:t>
            </a:r>
          </a:p>
          <a:p>
            <a:pPr marL="0" indent="0">
              <a:buNone/>
            </a:pPr>
            <a:r>
              <a:rPr lang="en-GB" sz="2400" dirty="0"/>
              <a:t>This gives us a strong foundation for everything that comes next.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738B070-1734-24C2-C516-48EEAE111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6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232B-C1C6-0A32-A6BB-30A9A3E3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659C-0287-0A11-AC4E-BBBC9D988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8731435" cy="994164"/>
          </a:xfrm>
        </p:spPr>
        <p:txBody>
          <a:bodyPr/>
          <a:lstStyle/>
          <a:p>
            <a:r>
              <a:rPr lang="en-US" dirty="0"/>
              <a:t>PHASE 2: </a:t>
            </a:r>
            <a:br>
              <a:rPr lang="en-US" dirty="0"/>
            </a:br>
            <a:r>
              <a:rPr lang="en-US" dirty="0"/>
              <a:t>week 3: price lines &amp; top-down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182D1-B0A7-3E59-E13D-97055A83C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688746"/>
            <a:ext cx="7965460" cy="3497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We’ll learn how to:</a:t>
            </a:r>
          </a:p>
          <a:p>
            <a:r>
              <a:rPr lang="en-GB" sz="2400" dirty="0"/>
              <a:t>Draw clean, meaningful price levels</a:t>
            </a:r>
          </a:p>
          <a:p>
            <a:r>
              <a:rPr lang="en-GB" sz="2400" dirty="0"/>
              <a:t>Identify important wicks</a:t>
            </a:r>
          </a:p>
          <a:p>
            <a:r>
              <a:rPr lang="en-GB" sz="2400" dirty="0"/>
              <a:t>Avoid clutter</a:t>
            </a:r>
          </a:p>
          <a:p>
            <a:r>
              <a:rPr lang="en-GB" sz="2400" dirty="0"/>
              <a:t>Perform top‑down analysis (Daily → 4H → 1H → 5M)</a:t>
            </a:r>
          </a:p>
          <a:p>
            <a:pPr marL="0" indent="0">
              <a:buNone/>
            </a:pPr>
            <a:r>
              <a:rPr lang="en-GB" sz="2400" dirty="0"/>
              <a:t>Everyone will practice posting their charts, and we’ll review them together.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319F4AF-5EC7-84AE-68CC-94F7FC51D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865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1F64-5AEF-8F7A-00DE-529A0B57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D1BD-FA0C-835A-0CBA-649487E32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75" y="707480"/>
            <a:ext cx="9111432" cy="994164"/>
          </a:xfrm>
        </p:spPr>
        <p:txBody>
          <a:bodyPr/>
          <a:lstStyle/>
          <a:p>
            <a:r>
              <a:rPr lang="en-US" dirty="0"/>
              <a:t>PHASE 2: </a:t>
            </a:r>
            <a:br>
              <a:rPr lang="en-US" dirty="0"/>
            </a:br>
            <a:r>
              <a:rPr lang="en-US" dirty="0"/>
              <a:t>week 4: the 5-minute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B4F69-9508-84F8-9997-5EFFD5A09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9262" y="1951925"/>
            <a:ext cx="8662737" cy="2849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We’ll break down the strategy step by step:</a:t>
            </a:r>
          </a:p>
          <a:p>
            <a:r>
              <a:rPr lang="en-GB" sz="2400" dirty="0"/>
              <a:t>Bias selection</a:t>
            </a:r>
          </a:p>
          <a:p>
            <a:r>
              <a:rPr lang="en-GB" sz="2400" dirty="0"/>
              <a:t>EMA behaviour</a:t>
            </a:r>
          </a:p>
          <a:p>
            <a:r>
              <a:rPr lang="en-GB" sz="2400" dirty="0"/>
              <a:t>Fake outs + liquidity grabs (market hunting stop losses)</a:t>
            </a:r>
          </a:p>
          <a:p>
            <a:r>
              <a:rPr lang="en-GB" sz="2400" dirty="0"/>
              <a:t>Confirmation candle</a:t>
            </a:r>
          </a:p>
          <a:p>
            <a:r>
              <a:rPr lang="en-GB" sz="2400" dirty="0"/>
              <a:t>Entry + exit timing</a:t>
            </a:r>
          </a:p>
          <a:p>
            <a:r>
              <a:rPr lang="en-GB" sz="2400" dirty="0"/>
              <a:t>Avoiding traps</a:t>
            </a:r>
          </a:p>
          <a:p>
            <a:pPr marL="0" indent="0">
              <a:buNone/>
            </a:pPr>
            <a:r>
              <a:rPr lang="en-GB" sz="2400" dirty="0"/>
              <a:t>We’ll practice marking entries on historical charts and share examples in the group.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ACD647E-C461-D357-9041-BA4780CA1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440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470AB-1699-DC51-13DD-67EC8D98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8F04-4E03-A665-E7A9-0FC03BA3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37" y="1029918"/>
            <a:ext cx="9625263" cy="994164"/>
          </a:xfrm>
        </p:spPr>
        <p:txBody>
          <a:bodyPr/>
          <a:lstStyle/>
          <a:p>
            <a:r>
              <a:rPr lang="en-US" dirty="0"/>
              <a:t>PHASE 2: </a:t>
            </a:r>
            <a:br>
              <a:rPr lang="en-US" dirty="0"/>
            </a:br>
            <a:r>
              <a:rPr lang="en-US" dirty="0"/>
              <a:t>week 5: Fibonacci retracement &amp; confluence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0452-EE2A-A665-FAD0-2AB7C783B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2770" y="2481314"/>
            <a:ext cx="8662737" cy="2849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We’ll cover:</a:t>
            </a:r>
          </a:p>
          <a:p>
            <a:r>
              <a:rPr lang="en-GB" sz="2400" dirty="0"/>
              <a:t>How to draw fibs</a:t>
            </a:r>
          </a:p>
          <a:p>
            <a:r>
              <a:rPr lang="en-GB" sz="2400" dirty="0"/>
              <a:t>How fib levels add confluence</a:t>
            </a:r>
          </a:p>
          <a:p>
            <a:r>
              <a:rPr lang="en-GB" sz="2400" dirty="0"/>
              <a:t>How fibs interact with EMAs and structure</a:t>
            </a:r>
          </a:p>
          <a:p>
            <a:pPr marL="0" indent="0">
              <a:buNone/>
            </a:pPr>
            <a:r>
              <a:rPr lang="en-GB" sz="2400" dirty="0"/>
              <a:t>This is where the strategy becomes more precise and powerful.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AA29E09-FE75-6527-C2FA-0FB754405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64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1145-4460-F4B9-31C0-5B41CDE67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BF79-889D-598F-D816-94E100554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PHASE 3: Weekly or Twice‑Weekly Calls (Ongoing)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04C5C-1FCD-5C78-B4BC-DBB4AC421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99874" y="2376203"/>
            <a:ext cx="8426152" cy="3497698"/>
          </a:xfrm>
        </p:spPr>
        <p:txBody>
          <a:bodyPr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GB" sz="2000" i="1" dirty="0"/>
              <a:t>Consistent learning, community support, and shared progress</a:t>
            </a:r>
            <a:endParaRPr lang="en-GB" dirty="0"/>
          </a:p>
          <a:p>
            <a:pPr marL="0" indent="0">
              <a:buNone/>
            </a:pPr>
            <a:r>
              <a:rPr lang="en-GB" sz="2000" dirty="0"/>
              <a:t>Once we’re in the structured learning phase, we’ll hold regular calls. These will include:</a:t>
            </a:r>
          </a:p>
          <a:p>
            <a:r>
              <a:rPr lang="en-GB" sz="2000" dirty="0"/>
              <a:t>A topic of the week</a:t>
            </a:r>
          </a:p>
          <a:p>
            <a:r>
              <a:rPr lang="en-GB" sz="2000" dirty="0"/>
              <a:t>Live chart walkthroughs</a:t>
            </a:r>
          </a:p>
          <a:p>
            <a:r>
              <a:rPr lang="en-GB" sz="2000" dirty="0"/>
              <a:t>Group practice</a:t>
            </a:r>
          </a:p>
          <a:p>
            <a:r>
              <a:rPr lang="en-GB" sz="2000" dirty="0"/>
              <a:t>Q&amp;A</a:t>
            </a:r>
          </a:p>
          <a:p>
            <a:r>
              <a:rPr lang="en-GB" sz="2000" dirty="0"/>
              <a:t>Homework or chart exercises</a:t>
            </a:r>
          </a:p>
          <a:p>
            <a:pPr marL="0" indent="0">
              <a:buNone/>
            </a:pPr>
            <a:r>
              <a:rPr lang="en-GB" sz="2000" dirty="0"/>
              <a:t>We’ll choose times that work for the majority (most members are EST), while still keeping things manageable for those in other time zones.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037D42F-D623-D13E-FE3F-A80F084AE9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122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FCF4-9405-3EC9-E700-DA9B0364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2B9B-9091-712A-A3A1-48DAB2B3F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95861"/>
            <a:ext cx="7965461" cy="994164"/>
          </a:xfrm>
        </p:spPr>
        <p:txBody>
          <a:bodyPr/>
          <a:lstStyle/>
          <a:p>
            <a:r>
              <a:rPr lang="en-US" dirty="0"/>
              <a:t>PHASE 4:  Trading Challenges (Ongoing)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ECE9-3E25-BECD-7144-ED0C8E196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99874" y="1403237"/>
            <a:ext cx="8426152" cy="34976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i="1" dirty="0"/>
              <a:t>Putting the strategy into practice together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Once everyone is comfortable with the strategy and platform setup, we’ll begin group trading challenges.</a:t>
            </a:r>
          </a:p>
          <a:p>
            <a:pPr marL="0" indent="0">
              <a:buNone/>
            </a:pPr>
            <a:r>
              <a:rPr lang="en-GB" b="1" dirty="0"/>
              <a:t>How it works:</a:t>
            </a:r>
          </a:p>
          <a:p>
            <a:r>
              <a:rPr lang="en-GB" dirty="0"/>
              <a:t>We pick a day to trade the 5‑minute chart</a:t>
            </a:r>
          </a:p>
          <a:p>
            <a:r>
              <a:rPr lang="en-GB" dirty="0"/>
              <a:t>Everyone takes the same trade (paper or real)</a:t>
            </a:r>
          </a:p>
          <a:p>
            <a:r>
              <a:rPr lang="en-GB" dirty="0"/>
              <a:t>After market close, we review the trade together</a:t>
            </a:r>
          </a:p>
          <a:p>
            <a:r>
              <a:rPr lang="en-GB" dirty="0"/>
              <a:t>We share:</a:t>
            </a:r>
          </a:p>
          <a:p>
            <a:pPr lvl="1"/>
            <a:r>
              <a:rPr lang="en-GB" dirty="0"/>
              <a:t>Our levels</a:t>
            </a:r>
          </a:p>
          <a:p>
            <a:pPr lvl="1"/>
            <a:r>
              <a:rPr lang="en-GB" dirty="0"/>
              <a:t>Our bias</a:t>
            </a:r>
          </a:p>
          <a:p>
            <a:pPr lvl="1"/>
            <a:r>
              <a:rPr lang="en-GB" dirty="0"/>
              <a:t>Our entry</a:t>
            </a:r>
          </a:p>
          <a:p>
            <a:pPr lvl="1"/>
            <a:r>
              <a:rPr lang="en-GB" dirty="0"/>
              <a:t>Our results</a:t>
            </a:r>
          </a:p>
          <a:p>
            <a:pPr lvl="1"/>
            <a:r>
              <a:rPr lang="en-GB" dirty="0"/>
              <a:t>What we learned</a:t>
            </a:r>
          </a:p>
          <a:p>
            <a:pPr marL="0" indent="0">
              <a:buNone/>
            </a:pPr>
            <a:r>
              <a:rPr lang="en-GB" dirty="0"/>
              <a:t>This builds confidence, sharpens skills, and helps us grow through shared experience.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993949A-A844-02F5-A13E-B5DFE0D71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413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07412-0186-62F9-EC01-575A0F8D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8A15-9C8B-A33A-0919-8CB5B2AF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410" y="-17547"/>
            <a:ext cx="7043617" cy="2520217"/>
          </a:xfrm>
        </p:spPr>
        <p:txBody>
          <a:bodyPr/>
          <a:lstStyle/>
          <a:p>
            <a:r>
              <a:rPr lang="en-GB" dirty="0"/>
              <a:t>The Spirit of the Group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F7791F-0521-3793-BA0A-FF949C461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34003-EB62-D443-19A8-F96BD8B66C5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977416"/>
            <a:ext cx="7043618" cy="2233233"/>
          </a:xfrm>
        </p:spPr>
        <p:txBody>
          <a:bodyPr>
            <a:noAutofit/>
          </a:bodyPr>
          <a:lstStyle/>
          <a:p>
            <a:r>
              <a:rPr lang="en-GB" sz="2200" dirty="0"/>
              <a:t>This community is about learning </a:t>
            </a:r>
            <a:r>
              <a:rPr lang="en-GB" sz="2200" i="1" dirty="0"/>
              <a:t>together</a:t>
            </a:r>
            <a:r>
              <a:rPr lang="en-GB" sz="2200" dirty="0"/>
              <a:t>.</a:t>
            </a:r>
          </a:p>
          <a:p>
            <a:br>
              <a:rPr lang="en-GB" sz="2200" dirty="0"/>
            </a:br>
            <a:r>
              <a:rPr lang="en-GB" sz="2200" dirty="0"/>
              <a:t>We support each other, share insights, and grow as a team.</a:t>
            </a:r>
            <a:br>
              <a:rPr lang="en-GB" sz="2200" dirty="0"/>
            </a:br>
            <a:r>
              <a:rPr lang="en-GB" sz="2200" dirty="0"/>
              <a:t>The pace is steady, the environment is encouraging, and the goal is mastery through collaboration.</a:t>
            </a:r>
          </a:p>
          <a:p>
            <a:endParaRPr lang="en-GB" sz="2200" dirty="0"/>
          </a:p>
          <a:p>
            <a:r>
              <a:rPr lang="en-GB" sz="2200" dirty="0"/>
              <a:t>I’ll guide the structure, host the calls, and help break down the strategy — but the real strength of this group comes from everyone contributing, asking questions, and helping each other succeed.</a:t>
            </a:r>
          </a:p>
        </p:txBody>
      </p:sp>
    </p:spTree>
    <p:extLst>
      <p:ext uri="{BB962C8B-B14F-4D97-AF65-F5344CB8AC3E}">
        <p14:creationId xmlns:p14="http://schemas.microsoft.com/office/powerpoint/2010/main" val="1886077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Questions / thoughts?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46</TotalTime>
  <Words>714</Words>
  <Application>Microsoft Office PowerPoint</Application>
  <PresentationFormat>Widescreen</PresentationFormat>
  <Paragraphs>104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Sabon Next LT</vt:lpstr>
      <vt:lpstr>Custom</vt:lpstr>
      <vt:lpstr>Welcome  5MTC SLOWER PACED STUDUY GROUP  introductory  call </vt:lpstr>
      <vt:lpstr>agenda</vt:lpstr>
      <vt:lpstr>Welcome to the 5-minute trader slower paced study group</vt:lpstr>
      <vt:lpstr>Group rules &amp; culture</vt:lpstr>
      <vt:lpstr>PHASE 1: FOUNDATION REVIEW (now – 26 July)</vt:lpstr>
      <vt:lpstr>PHASE 2: weekly workshops (after 26 July)</vt:lpstr>
      <vt:lpstr>PHASE 2:  week 1: PlatfORM SETUP</vt:lpstr>
      <vt:lpstr>PHASE 2:  week 2: core fundamentals</vt:lpstr>
      <vt:lpstr>PHASE 2:  week 3: price lines &amp; top-down analysis</vt:lpstr>
      <vt:lpstr>PHASE 2:  week 4: the 5-minute strategy</vt:lpstr>
      <vt:lpstr>PHASE 2:  week 5: Fibonacci retracement &amp; confluence</vt:lpstr>
      <vt:lpstr>PHASE 3: Weekly or Twice‑Weekly Calls (Ongoing)</vt:lpstr>
      <vt:lpstr>PHASE 4:  Trading Challenges (Ongoing)</vt:lpstr>
      <vt:lpstr>The Spirit of the Group</vt:lpstr>
      <vt:lpstr>Questions / thoughts?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caroline martin</dc:creator>
  <cp:lastModifiedBy>caroline martin</cp:lastModifiedBy>
  <cp:revision>4</cp:revision>
  <dcterms:created xsi:type="dcterms:W3CDTF">2026-07-19T18:24:54Z</dcterms:created>
  <dcterms:modified xsi:type="dcterms:W3CDTF">2026-07-19T19:11:23Z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